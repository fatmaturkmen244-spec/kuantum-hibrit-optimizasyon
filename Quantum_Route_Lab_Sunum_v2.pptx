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64780c541244bfd" /><Relationship Type="http://schemas.openxmlformats.org/officeDocument/2006/relationships/extended-properties" Target="/docProps/app.xml" Id="R272e168324884234" /><Relationship Type="http://schemas.openxmlformats.org/officeDocument/2006/relationships/officeDocument" Target="/ppt/presentation.xml" Id="R98143f492b0442f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10aa44085324963"/>
  </p:sldMasterIdLst>
  <p:notesMasterIdLst>
    <p:notesMasterId xmlns:r="http://schemas.openxmlformats.org/officeDocument/2006/relationships" r:id="Re97bd79dd1f24c52"/>
  </p:notesMasterIdLst>
  <p:sldIdLst>
    <p:sldId xmlns:r="http://schemas.openxmlformats.org/officeDocument/2006/relationships" id="256" r:id="R06c253ba417443d5"/>
    <p:sldId xmlns:r="http://schemas.openxmlformats.org/officeDocument/2006/relationships" id="257" r:id="R51e129f20a314320"/>
    <p:sldId xmlns:r="http://schemas.openxmlformats.org/officeDocument/2006/relationships" id="258" r:id="R05fcc9427f8f4053"/>
    <p:sldId xmlns:r="http://schemas.openxmlformats.org/officeDocument/2006/relationships" id="259" r:id="R933e9a832b164216"/>
    <p:sldId xmlns:r="http://schemas.openxmlformats.org/officeDocument/2006/relationships" id="260" r:id="R6705b03668674bdb"/>
    <p:sldId xmlns:r="http://schemas.openxmlformats.org/officeDocument/2006/relationships" id="261" r:id="R8e5fc42822eb46a9"/>
    <p:sldId xmlns:r="http://schemas.openxmlformats.org/officeDocument/2006/relationships" id="262" r:id="R9c89962e3dc24a07"/>
    <p:sldId xmlns:r="http://schemas.openxmlformats.org/officeDocument/2006/relationships" id="263" r:id="R3a8b0d4960dd4673"/>
    <p:sldId xmlns:r="http://schemas.openxmlformats.org/officeDocument/2006/relationships" id="264" r:id="R1b1424f051414a4b"/>
    <p:sldId xmlns:r="http://schemas.openxmlformats.org/officeDocument/2006/relationships" id="265" r:id="R5279fc2084f842e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c2654fb798c5432b" /><Relationship Type="http://schemas.openxmlformats.org/officeDocument/2006/relationships/slideMaster" Target="/ppt/slideMasters/slideMaster1.xml" Id="R210aa44085324963" /><Relationship Type="http://schemas.openxmlformats.org/officeDocument/2006/relationships/notesMaster" Target="/ppt/notesMasters/notesMaster1.xml" Id="Re97bd79dd1f24c52" /><Relationship Type="http://schemas.openxmlformats.org/officeDocument/2006/relationships/presProps" Target="/ppt/presProps.xml" Id="Ref4d03be752645bf" /><Relationship Type="http://schemas.openxmlformats.org/officeDocument/2006/relationships/tableStyles" Target="/ppt/tableStyles.xml" Id="R850d68c8623a405c" /><Relationship Type="http://schemas.openxmlformats.org/officeDocument/2006/relationships/slide" Target="/ppt/slides/slide1.xml" Id="R06c253ba417443d5" /><Relationship Type="http://schemas.openxmlformats.org/officeDocument/2006/relationships/slide" Target="/ppt/slides/slide2.xml" Id="R51e129f20a314320" /><Relationship Type="http://schemas.openxmlformats.org/officeDocument/2006/relationships/slide" Target="/ppt/slides/slide3.xml" Id="R05fcc9427f8f4053" /><Relationship Type="http://schemas.openxmlformats.org/officeDocument/2006/relationships/slide" Target="/ppt/slides/slide4.xml" Id="R933e9a832b164216" /><Relationship Type="http://schemas.openxmlformats.org/officeDocument/2006/relationships/slide" Target="/ppt/slides/slide5.xml" Id="R6705b03668674bdb" /><Relationship Type="http://schemas.openxmlformats.org/officeDocument/2006/relationships/slide" Target="/ppt/slides/slide6.xml" Id="R8e5fc42822eb46a9" /><Relationship Type="http://schemas.openxmlformats.org/officeDocument/2006/relationships/slide" Target="/ppt/slides/slide7.xml" Id="R9c89962e3dc24a07" /><Relationship Type="http://schemas.openxmlformats.org/officeDocument/2006/relationships/slide" Target="/ppt/slides/slide8.xml" Id="R3a8b0d4960dd4673" /><Relationship Type="http://schemas.openxmlformats.org/officeDocument/2006/relationships/slide" Target="/ppt/slides/slide9.xml" Id="R1b1424f051414a4b" /><Relationship Type="http://schemas.openxmlformats.org/officeDocument/2006/relationships/slide" Target="/ppt/slides/slide10.xml" Id="R5279fc2084f842e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5f4f49f3ebd4109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10d22a5dd3f4b9c" /><Relationship Type="http://schemas.openxmlformats.org/officeDocument/2006/relationships/notesMaster" Target="/ppt/notesMasters/notesMaster1.xml" Id="R0b0e8ed7da304db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e11b7800273149e2" /><Relationship Type="http://schemas.openxmlformats.org/officeDocument/2006/relationships/notesMaster" Target="/ppt/notesMasters/notesMaster1.xml" Id="Rd090f57096ee4d8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f67bde0a8484014" /><Relationship Type="http://schemas.openxmlformats.org/officeDocument/2006/relationships/notesMaster" Target="/ppt/notesMasters/notesMaster1.xml" Id="R6e591b51066f4c0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cdc6fd09de4475f" /><Relationship Type="http://schemas.openxmlformats.org/officeDocument/2006/relationships/notesMaster" Target="/ppt/notesMasters/notesMaster1.xml" Id="R6ba7836922584c1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10eb87fd2604b81" /><Relationship Type="http://schemas.openxmlformats.org/officeDocument/2006/relationships/notesMaster" Target="/ppt/notesMasters/notesMaster1.xml" Id="R82a15d5571bb4bd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374ff13dfb04db8" /><Relationship Type="http://schemas.openxmlformats.org/officeDocument/2006/relationships/notesMaster" Target="/ppt/notesMasters/notesMaster1.xml" Id="Rba49361b5ff3419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869309a261704259" /><Relationship Type="http://schemas.openxmlformats.org/officeDocument/2006/relationships/notesMaster" Target="/ppt/notesMasters/notesMaster1.xml" Id="R7474c78190504ac5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be8577d7a124bf9" /><Relationship Type="http://schemas.openxmlformats.org/officeDocument/2006/relationships/notesMaster" Target="/ppt/notesMasters/notesMaster1.xml" Id="R9ca4548773b849e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2b0636ce0ac4537" /><Relationship Type="http://schemas.openxmlformats.org/officeDocument/2006/relationships/notesMaster" Target="/ppt/notesMasters/notesMaster1.xml" Id="R7d4b945b66f44de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b57723a899d4055" /><Relationship Type="http://schemas.openxmlformats.org/officeDocument/2006/relationships/notesMaster" Target="/ppt/notesMasters/notesMaster1.xml" Id="R253700aeb40c41e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Açılış (20 saniye): Bu proje bir navigasyon uygulaması değil; optimizasyon yöntemlerini karşılaştıran bir laboratuvar.</a:t>
            </a:r>
          </a:p>
          <a:p xmlns:a="http://schemas.openxmlformats.org/drawingml/2006/main">
            <a:r>
              <a:t>Kullanıcı problemi normal Türkçe ile anlatıyor. Sistem aynı problemi klasik ve kuantum yöntemlerle çözüyor.</a:t>
            </a:r>
          </a:p>
          <a:p xmlns:a="http://schemas.openxmlformats.org/drawingml/2006/main">
            <a:r>
              <a:t>En önemli söz: Kuantumun daha iyi çıktığını varsaymıyoruz; ölçüp kanıtıyla gösteriyoruz.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Şehir sayısındaki küçük artışın seçenek sayısını nasıl büyüttüğünü vurgula.</a:t>
            </a:r>
          </a:p>
          <a:p xmlns:a="http://schemas.openxmlformats.org/drawingml/2006/main">
            <a:r>
              <a:t>Bu örnek gezgin satıcı problemi olarak bilinir ve NP-zor problem ailesindedir.</a:t>
            </a:r>
          </a:p>
          <a:p xmlns:a="http://schemas.openxmlformats.org/drawingml/2006/main">
            <a:r>
              <a:t>Burada amaç büyük ölçekte kesin çözüm sözü vermek değil; yöntemlerin nerede güçlü ve zayıf olduğunu ölçmektir.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 slaytı soldan sağa anlat.</a:t>
            </a:r>
          </a:p>
          <a:p xmlns:a="http://schemas.openxmlformats.org/drawingml/2006/main">
            <a:r>
              <a:t>Azure OpenAI bağlıysa doğal dil problem şemasına dönüştürülür; bağlı değilse demo yerel şehir sözlüğüyle çalışmaya devam eder.</a:t>
            </a:r>
          </a:p>
          <a:p xmlns:a="http://schemas.openxmlformats.org/drawingml/2006/main">
            <a:r>
              <a:t>Son adımda yalnızca en kısa rota değil, süre ve kuantum kanıtı da gösterilir.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Canlı demoda önce Yazarak çöz sekmesini aç.</a:t>
            </a:r>
          </a:p>
          <a:p xmlns:a="http://schemas.openxmlformats.org/drawingml/2006/main">
            <a:r>
              <a:t>Örnek cümleyi oku ve Cümleyi anla ve çöz düğmesine bas.</a:t>
            </a:r>
          </a:p>
          <a:p xmlns:a="http://schemas.openxmlformats.org/drawingml/2006/main">
            <a:r>
              <a:t>Beklerken söyle: Sistem aynı veriyi klasik ve kuantum motorlara veriyor; adil karşılaştırma burada başlıyor.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Kuantumu sihir gibi anlatma. Dört işlemi sırayla açıkla: hazırlama, maliyet fazı, karıştırma, ölçüm.</a:t>
            </a:r>
          </a:p>
          <a:p xmlns:a="http://schemas.openxmlformats.org/drawingml/2006/main">
            <a:r>
              <a:t>Q# devresinde H ve kontrollü faz kapıları ile ölçüm gerçekten çalışır.</a:t>
            </a:r>
          </a:p>
          <a:p xmlns:a="http://schemas.openxmlformats.org/drawingml/2006/main">
            <a:r>
              <a:t>Sonucun kuantumdan gelmesi, bugün mutlaka daha hızlı olduğu anlamına gelmez. Bu dürüstlük projenin güvenilirliğini artırır.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 slayt jürinin 'gerçekten kuantum nerede?' sorusunun cevabı.</a:t>
            </a:r>
          </a:p>
          <a:p xmlns:a="http://schemas.openxmlformats.org/drawingml/2006/main">
            <a:r>
              <a:t>Birinci seviye matematiksel simülasyon; ikinci seviye çalışan Microsoft Q# devresi; üçüncü seviye Azure Quantum işi.</a:t>
            </a:r>
          </a:p>
          <a:p xmlns:a="http://schemas.openxmlformats.org/drawingml/2006/main">
            <a:r>
              <a:t>Demo şu anda hangi seviyedeyse yalnızca onu aktif gösterir. Böylece gerçek donanım kullanılmış gibi yanlış bir izlenim yaratılmaz.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 slaytta yöntemleri kısa kısa tanıt; ayrıntılı algoritma dersine girme.</a:t>
            </a:r>
          </a:p>
          <a:p xmlns:a="http://schemas.openxmlformats.org/drawingml/2006/main">
            <a:r>
              <a:t>Kesin yöntem kalite referansı, klasik hızlı yöntem pratik referans, kuantum modeli olasılık davranışı, Q# ise devre kanıtıdır.</a:t>
            </a:r>
          </a:p>
          <a:p xmlns:a="http://schemas.openxmlformats.org/drawingml/2006/main">
            <a:r>
              <a:t>Projenin değeri tek bir yöntemi parlatmak değil; aynı problem üzerinde ölçülebilir kıyas sunmaktır.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Sorulursa net cevap: Bu Google Maps rakibi değil.</a:t>
            </a:r>
          </a:p>
          <a:p xmlns:a="http://schemas.openxmlformats.org/drawingml/2006/main">
            <a:r>
              <a:t>Kullanım amacı kuantum algoritmalarını öğretmek, klasik-kuantum kıyası yapmak ve Azure Quantum iş akışına hazırlanmaktır.</a:t>
            </a:r>
          </a:p>
          <a:p xmlns:a="http://schemas.openxmlformats.org/drawingml/2006/main">
            <a:r>
              <a:t>İnsanların ilgisini çeken nokta, kuantum iddiasının sonuç ekranında kanıt seviyesine dönüşmesidir.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Buradaki iki kavramı ayır: NL, doğal dil ile problemi anlatmak; NP-zor ise çözüm uzayı hızlı büyüyen problem ailesi.</a:t>
            </a:r>
          </a:p>
          <a:p xmlns:a="http://schemas.openxmlformats.org/drawingml/2006/main">
            <a:r>
              <a:t>Bugün çalışan kapsam Türkçe rota problemidir.</a:t>
            </a:r>
          </a:p>
          <a:p xmlns:a="http://schemas.openxmlformats.org/drawingml/2006/main">
            <a:r>
              <a:t>Sonraki mantıklı adım, ortak QUBO katmanı üzerinden Max-Cut, çanta problemi ve çizelgelemeyi eklemektir. Bunları bugün çalışıyormuş gibi anlatma; yol haritası de.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Kapanış cümlesi: Bu proje kuantumun her zaman daha iyi olduğunu savunmuyor; hangi koşulda değer ürettiğini ölçülebilir hale getiriyor.</a:t>
            </a:r>
          </a:p>
          <a:p xmlns:a="http://schemas.openxmlformats.org/drawingml/2006/main">
            <a:r>
              <a:t>Ardından canlı demoya veya GitHub koduna geç.</a:t>
            </a:r>
          </a:p>
          <a:p xmlns:a="http://schemas.openxmlformats.org/drawingml/2006/main">
            <a:r>
              <a:t>Soru gelirse üç başlıkta cevap ver: doğal dil kolaylığı, adil klasik-kuantum benchmark’ı, üç seviyeli kuantum kanıtı.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73285f79f147ab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092d0a7f2f2e46f2" /><Relationship Type="http://schemas.openxmlformats.org/officeDocument/2006/relationships/slideLayout" Target="/ppt/slideLayouts/slideLayout1.xml" Id="Rbde5e2ec50ea4b2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de5e2ec50ea4b2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ca7f0fe2474b21" /><Relationship Type="http://schemas.openxmlformats.org/officeDocument/2006/relationships/notesSlide" Target="/ppt/notesSlides/notesSlide1.xml" Id="Ra4cfacf59ac64d2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aa3fe284cdf4080" /><Relationship Type="http://schemas.openxmlformats.org/officeDocument/2006/relationships/notesSlide" Target="/ppt/notesSlides/notesSlide2.xml" Id="R65beebb28c4e4d1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30a136799d4c6e" /><Relationship Type="http://schemas.openxmlformats.org/officeDocument/2006/relationships/notesSlide" Target="/ppt/notesSlides/notesSlide3.xml" Id="Rcfca40cb6f5b45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dc03b7604a44a2e" /><Relationship Type="http://schemas.openxmlformats.org/officeDocument/2006/relationships/image" Target="/ppt/media/image.jpeg" Id="Rd887b1f583054eef" /><Relationship Type="http://schemas.openxmlformats.org/officeDocument/2006/relationships/notesSlide" Target="/ppt/notesSlides/notesSlide4.xml" Id="R19179720867c462b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15f59ab6bb4ef1" /><Relationship Type="http://schemas.openxmlformats.org/officeDocument/2006/relationships/notesSlide" Target="/ppt/notesSlides/notesSlide5.xml" Id="R53b89ccf85254314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c2eb6b47fe4ef2" /><Relationship Type="http://schemas.openxmlformats.org/officeDocument/2006/relationships/image" Target="/ppt/media/image2.jpeg" Id="Rbd5c52bb25d74c41" /><Relationship Type="http://schemas.openxmlformats.org/officeDocument/2006/relationships/notesSlide" Target="/ppt/notesSlides/notesSlide6.xml" Id="Rf840835f8fa84f59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60b254ce2264a71" /><Relationship Type="http://schemas.openxmlformats.org/officeDocument/2006/relationships/notesSlide" Target="/ppt/notesSlides/notesSlide7.xml" Id="R5dea36f8774745b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060891fdb44a00" /><Relationship Type="http://schemas.openxmlformats.org/officeDocument/2006/relationships/notesSlide" Target="/ppt/notesSlides/notesSlide8.xml" Id="R006365b7c8624b68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5968c4be5634faa" /><Relationship Type="http://schemas.openxmlformats.org/officeDocument/2006/relationships/notesSlide" Target="/ppt/notesSlides/notesSlide9.xml" Id="Rfba276d18b02457e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c884ce9b1044b3" /><Relationship Type="http://schemas.openxmlformats.org/officeDocument/2006/relationships/notesSlide" Target="/ppt/notesSlides/notesSlide10.xml" Id="R6b7ada1d8a96493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Title-3-1">
            <a:extLst xmlns:a="http://schemas.openxmlformats.org/drawingml/2006/main">
              <a:ext uri="{FF2B5EF4-FFF2-40B4-BE49-F238E27FC236}">
                <a16:creationId xmlns:a16="http://schemas.microsoft.com/office/drawing/2014/main" id="{24F5C358-1E76-4DF0-8A22-AAFB59FBD3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1738789"/>
            <a:ext cx="9448800" cy="249145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l">
              <a:defRPr sz="6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Quantum Route Lab</a:t>
            </a:r>
          </a:p>
        </p:txBody>
      </p:sp>
      <p:sp>
        <p:nvSpPr>
          <p:cNvPr id="2" name="Subtitle-4-2">
            <a:extLst xmlns:a="http://schemas.openxmlformats.org/drawingml/2006/main">
              <a:ext uri="{FF2B5EF4-FFF2-40B4-BE49-F238E27FC236}">
                <a16:creationId xmlns:a16="http://schemas.microsoft.com/office/drawing/2014/main" id="{5CB6DD6A-F495-4D0F-AB9F-230D0ACAE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4742212"/>
            <a:ext cx="5702332" cy="108023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Doğal dilden çalışan, klasik ve kuantum yöntemlerini aynı problemde dürüstçe karşılaştıran optimizasyon laboratuvarı.</a:t>
            </a:r>
          </a:p>
        </p:txBody>
      </p:sp>
      <p:sp>
        <p:nvSpPr>
          <p:cNvPr id="3" name="Subtitle-4-3">
            <a:extLst xmlns:a="http://schemas.openxmlformats.org/drawingml/2006/main">
              <a:ext uri="{FF2B5EF4-FFF2-40B4-BE49-F238E27FC236}">
                <a16:creationId xmlns:a16="http://schemas.microsoft.com/office/drawing/2014/main" id="{670803BE-5878-48BA-8663-CA9F2820F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92240"/>
            <a:ext cx="5702332" cy="64912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MICROSOFT AZURE × Q# × HİBRİT OPTİMİZASYON</a:t>
            </a:r>
          </a:p>
        </p:txBody>
      </p:sp>
      <p:sp>
        <p:nvSpPr>
          <p:cNvPr id="4" name="quantum-orbit">
            <a:extLst xmlns:a="http://schemas.openxmlformats.org/drawingml/2006/main">
              <a:ext uri="{FF2B5EF4-FFF2-40B4-BE49-F238E27FC236}">
                <a16:creationId xmlns:a16="http://schemas.microsoft.com/office/drawing/2014/main" id="{F37A7D7A-6990-47DA-A2EA-89D5AACB0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619250"/>
            <a:ext cx="2238375" cy="22383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CEAFF"/>
          </a:solidFill>
          <a:ln xmlns:a="http://schemas.openxmlformats.org/drawingml/2006/main" w="9525">
            <a:solidFill>
              <a:srgbClr val="C9C4FF"/>
            </a:solidFill>
            <a:prstDash val="solid"/>
          </a:ln>
        </p:spPr>
      </p:sp>
      <p:sp>
        <p:nvSpPr>
          <p:cNvPr id="5" name="quantum-psi">
            <a:extLst xmlns:a="http://schemas.openxmlformats.org/drawingml/2006/main">
              <a:ext uri="{FF2B5EF4-FFF2-40B4-BE49-F238E27FC236}">
                <a16:creationId xmlns:a16="http://schemas.microsoft.com/office/drawing/2014/main" id="{FD8F44EB-0D6E-4E3E-85DA-FA177ECD8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20250" y="1952625"/>
            <a:ext cx="12382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7800" b="1">
                <a:solidFill>
                  <a:srgbClr val="6658F6"/>
                </a:solidFill>
                <a:latin typeface="Aptos"/>
                <a:ea typeface="Aptos"/>
                <a:cs typeface="Aptos"/>
              </a:defRPr>
            </a:pPr>
            <a:r>
              <a:rPr sz="7800" b="1">
                <a:solidFill>
                  <a:srgbClr val="6658F6"/>
                </a:solidFill>
                <a:latin typeface="Aptos"/>
                <a:ea typeface="Aptos"/>
                <a:cs typeface="Aptos"/>
              </a:rPr>
              <a:t>ψ</a:t>
            </a:r>
          </a:p>
        </p:txBody>
      </p:sp>
      <p:sp>
        <p:nvSpPr>
          <p:cNvPr id="6" name="accent-bar">
            <a:extLst xmlns:a="http://schemas.openxmlformats.org/drawingml/2006/main">
              <a:ext uri="{FF2B5EF4-FFF2-40B4-BE49-F238E27FC236}">
                <a16:creationId xmlns:a16="http://schemas.microsoft.com/office/drawing/2014/main" id="{1BB5F659-78D4-4D00-B468-D9091CF991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1257300"/>
            <a:ext cx="142875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BDEB"/>
          </a:solidFill>
          <a:ln xmlns:a="http://schemas.openxmlformats.org/drawingml/2006/main" w="9525">
            <a:solidFill>
              <a:srgbClr val="16BDEB"/>
            </a:solidFill>
            <a:prstDash val="solid"/>
          </a:ln>
        </p:spPr>
      </p:sp>
      <p:sp>
        <p:nvSpPr>
          <p:cNvPr id="7" name="author">
            <a:extLst xmlns:a="http://schemas.openxmlformats.org/drawingml/2006/main">
              <a:ext uri="{FF2B5EF4-FFF2-40B4-BE49-F238E27FC236}">
                <a16:creationId xmlns:a16="http://schemas.microsoft.com/office/drawing/2014/main" id="{83AAC775-BE95-4CB8-849C-B4960A6D0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" y="6076950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125" b="1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125" b="1">
                <a:solidFill>
                  <a:srgbClr val="59657D"/>
                </a:solidFill>
                <a:latin typeface="Aptos"/>
                <a:ea typeface="Aptos"/>
                <a:cs typeface="Aptos"/>
              </a:rPr>
              <a:t>Fatma Türkmen · İlk ürün demosu</a:t>
            </a:r>
          </a:p>
        </p:txBody>
      </p:sp>
    </p:spTree>
    <p:extLst>
      <p:ext uri="{BB962C8B-B14F-4D97-AF65-F5344CB8AC3E}">
        <p14:creationId xmlns:p14="http://schemas.microsoft.com/office/powerpoint/2010/main" val="20016108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Problem-eyebrow">
            <a:extLst xmlns:a="http://schemas.openxmlformats.org/drawingml/2006/main">
              <a:ext uri="{FF2B5EF4-FFF2-40B4-BE49-F238E27FC236}">
                <a16:creationId xmlns:a16="http://schemas.microsoft.com/office/drawing/2014/main" id="{DF08DA17-54DA-4620-BF16-6B7E4BD69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658F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58F6"/>
                </a:solidFill>
                <a:latin typeface="Aptos"/>
                <a:ea typeface="Aptos"/>
                <a:cs typeface="Aptos"/>
              </a:rPr>
              <a:t>PROBLEM</a:t>
            </a:r>
          </a:p>
        </p:txBody>
      </p:sp>
      <p:sp>
        <p:nvSpPr>
          <p:cNvPr id="2" name="Problem-title">
            <a:extLst xmlns:a="http://schemas.openxmlformats.org/drawingml/2006/main">
              <a:ext uri="{FF2B5EF4-FFF2-40B4-BE49-F238E27FC236}">
                <a16:creationId xmlns:a16="http://schemas.microsoft.com/office/drawing/2014/main" id="{8BD8D4E1-D0DD-4A46-B5F7-8928FECAE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Rota seçmek kolay görünür; seçenek sayısı patlar.</a:t>
            </a:r>
          </a:p>
        </p:txBody>
      </p:sp>
      <p:sp>
        <p:nvSpPr>
          <p:cNvPr id="3" name="Problem-subtitle">
            <a:extLst xmlns:a="http://schemas.openxmlformats.org/drawingml/2006/main">
              <a:ext uri="{FF2B5EF4-FFF2-40B4-BE49-F238E27FC236}">
                <a16:creationId xmlns:a16="http://schemas.microsoft.com/office/drawing/2014/main" id="{28A07925-ECA5-4A67-B6E5-339351822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9657D"/>
                </a:solidFill>
                <a:latin typeface="Aptos"/>
                <a:ea typeface="Aptos"/>
                <a:cs typeface="Aptos"/>
              </a:rPr>
              <a:t>Şehir sayısı büyüdükçe tüm rotaları denemek klasik bilgisayarlar için hızla pahalı hale gelir.</a:t>
            </a:r>
          </a:p>
        </p:txBody>
      </p:sp>
      <p:sp>
        <p:nvSpPr>
          <p:cNvPr id="4" name="growth-0">
            <a:extLst xmlns:a="http://schemas.openxmlformats.org/drawingml/2006/main">
              <a:ext uri="{FF2B5EF4-FFF2-40B4-BE49-F238E27FC236}">
                <a16:creationId xmlns:a16="http://schemas.microsoft.com/office/drawing/2014/main" id="{F9B4D342-8E04-48BE-88DB-B5B4F6BED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305050"/>
            <a:ext cx="333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E"/>
            </a:solidFill>
            <a:prstDash val="solid"/>
          </a:ln>
        </p:spPr>
      </p:sp>
      <p:sp>
        <p:nvSpPr>
          <p:cNvPr id="5" name="growth-label-0">
            <a:extLst xmlns:a="http://schemas.openxmlformats.org/drawingml/2006/main">
              <a:ext uri="{FF2B5EF4-FFF2-40B4-BE49-F238E27FC236}">
                <a16:creationId xmlns:a16="http://schemas.microsoft.com/office/drawing/2014/main" id="{B034F56C-4149-4D7C-90A4-80A3AC445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5717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9657D"/>
                </a:solidFill>
                <a:latin typeface="Aptos"/>
                <a:ea typeface="Aptos"/>
                <a:cs typeface="Aptos"/>
              </a:rPr>
              <a:t>5 şehir</a:t>
            </a:r>
          </a:p>
        </p:txBody>
      </p:sp>
      <p:sp>
        <p:nvSpPr>
          <p:cNvPr id="6" name="growth-value-0">
            <a:extLst xmlns:a="http://schemas.openxmlformats.org/drawingml/2006/main">
              <a:ext uri="{FF2B5EF4-FFF2-40B4-BE49-F238E27FC236}">
                <a16:creationId xmlns:a16="http://schemas.microsoft.com/office/drawing/2014/main" id="{76895AC6-71AC-4F0C-9B38-672F891C3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06705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sp>
        <p:nvSpPr>
          <p:cNvPr id="7" name="growth-unit-0">
            <a:extLst xmlns:a="http://schemas.openxmlformats.org/drawingml/2006/main">
              <a:ext uri="{FF2B5EF4-FFF2-40B4-BE49-F238E27FC236}">
                <a16:creationId xmlns:a16="http://schemas.microsoft.com/office/drawing/2014/main" id="{F8AEF1B4-0D37-4E70-9349-D7F1B8F8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2907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9657D"/>
                </a:solidFill>
                <a:latin typeface="Aptos"/>
                <a:ea typeface="Aptos"/>
                <a:cs typeface="Aptos"/>
              </a:rPr>
              <a:t>olası tur</a:t>
            </a:r>
          </a:p>
        </p:txBody>
      </p:sp>
      <p:sp>
        <p:nvSpPr>
          <p:cNvPr id="8" name="growth-1">
            <a:extLst xmlns:a="http://schemas.openxmlformats.org/drawingml/2006/main">
              <a:ext uri="{FF2B5EF4-FFF2-40B4-BE49-F238E27FC236}">
                <a16:creationId xmlns:a16="http://schemas.microsoft.com/office/drawing/2014/main" id="{C98F8EC3-D141-42FF-BF68-4B3CD94D0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305050"/>
            <a:ext cx="333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E"/>
            </a:solidFill>
            <a:prstDash val="solid"/>
          </a:ln>
        </p:spPr>
      </p:sp>
      <p:sp>
        <p:nvSpPr>
          <p:cNvPr id="9" name="growth-label-1">
            <a:extLst xmlns:a="http://schemas.openxmlformats.org/drawingml/2006/main">
              <a:ext uri="{FF2B5EF4-FFF2-40B4-BE49-F238E27FC236}">
                <a16:creationId xmlns:a16="http://schemas.microsoft.com/office/drawing/2014/main" id="{922022A2-759A-4CFE-ACA3-F3E403094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25717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9657D"/>
                </a:solidFill>
                <a:latin typeface="Aptos"/>
                <a:ea typeface="Aptos"/>
                <a:cs typeface="Aptos"/>
              </a:rPr>
              <a:t>9 şehir</a:t>
            </a:r>
          </a:p>
        </p:txBody>
      </p:sp>
      <p:sp>
        <p:nvSpPr>
          <p:cNvPr id="10" name="growth-value-1">
            <a:extLst xmlns:a="http://schemas.openxmlformats.org/drawingml/2006/main">
              <a:ext uri="{FF2B5EF4-FFF2-40B4-BE49-F238E27FC236}">
                <a16:creationId xmlns:a16="http://schemas.microsoft.com/office/drawing/2014/main" id="{FE432D9E-3943-4788-BF18-9236FCE90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306705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40.320</a:t>
            </a:r>
          </a:p>
        </p:txBody>
      </p:sp>
      <p:sp>
        <p:nvSpPr>
          <p:cNvPr id="11" name="growth-unit-1">
            <a:extLst xmlns:a="http://schemas.openxmlformats.org/drawingml/2006/main">
              <a:ext uri="{FF2B5EF4-FFF2-40B4-BE49-F238E27FC236}">
                <a16:creationId xmlns:a16="http://schemas.microsoft.com/office/drawing/2014/main" id="{DDEDC5A5-B0DA-4D71-9DC6-EEE7E8C84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91050" y="402907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9657D"/>
                </a:solidFill>
                <a:latin typeface="Aptos"/>
                <a:ea typeface="Aptos"/>
                <a:cs typeface="Aptos"/>
              </a:rPr>
              <a:t>olası tur</a:t>
            </a:r>
          </a:p>
        </p:txBody>
      </p:sp>
      <p:sp>
        <p:nvSpPr>
          <p:cNvPr id="12" name="growth-2">
            <a:extLst xmlns:a="http://schemas.openxmlformats.org/drawingml/2006/main">
              <a:ext uri="{FF2B5EF4-FFF2-40B4-BE49-F238E27FC236}">
                <a16:creationId xmlns:a16="http://schemas.microsoft.com/office/drawing/2014/main" id="{EF77F660-7EAF-4188-890E-F1622334E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305050"/>
            <a:ext cx="3333750" cy="2381250"/>
          </a:xfrm>
          <a:prstGeom xmlns:a="http://schemas.openxmlformats.org/drawingml/2006/main" prst="roundRect">
            <a:avLst>
              <a:gd name="adj" fmla="val 4800"/>
            </a:avLst>
          </a:prstGeom>
          <a:solidFill xmlns:a="http://schemas.openxmlformats.org/drawingml/2006/main">
            <a:srgbClr val="ECEAFF"/>
          </a:solidFill>
          <a:ln xmlns:a="http://schemas.openxmlformats.org/drawingml/2006/main" w="9525">
            <a:solidFill>
              <a:srgbClr val="BFB7FF"/>
            </a:solidFill>
            <a:prstDash val="solid"/>
          </a:ln>
        </p:spPr>
      </p:sp>
      <p:sp>
        <p:nvSpPr>
          <p:cNvPr id="13" name="growth-label-2">
            <a:extLst xmlns:a="http://schemas.openxmlformats.org/drawingml/2006/main">
              <a:ext uri="{FF2B5EF4-FFF2-40B4-BE49-F238E27FC236}">
                <a16:creationId xmlns:a16="http://schemas.microsoft.com/office/drawing/2014/main" id="{1FA6ABF6-23D6-46DC-9122-CD7926E70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5717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 b="1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275" b="1">
                <a:solidFill>
                  <a:srgbClr val="59657D"/>
                </a:solidFill>
                <a:latin typeface="Aptos"/>
                <a:ea typeface="Aptos"/>
                <a:cs typeface="Aptos"/>
              </a:rPr>
              <a:t>13 şehir</a:t>
            </a:r>
          </a:p>
        </p:txBody>
      </p:sp>
      <p:sp>
        <p:nvSpPr>
          <p:cNvPr id="14" name="growth-value-2">
            <a:extLst xmlns:a="http://schemas.openxmlformats.org/drawingml/2006/main">
              <a:ext uri="{FF2B5EF4-FFF2-40B4-BE49-F238E27FC236}">
                <a16:creationId xmlns:a16="http://schemas.microsoft.com/office/drawing/2014/main" id="{11AE9BEE-0F6C-40F1-9035-5A45BB772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3067050"/>
            <a:ext cx="2762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4350" b="1">
                <a:solidFill>
                  <a:srgbClr val="6658F6"/>
                </a:solidFill>
                <a:latin typeface="Aptos"/>
                <a:ea typeface="Aptos"/>
                <a:cs typeface="Aptos"/>
              </a:defRPr>
            </a:pPr>
            <a:r>
              <a:rPr sz="4350" b="1">
                <a:solidFill>
                  <a:srgbClr val="6658F6"/>
                </a:solidFill>
                <a:latin typeface="Aptos"/>
                <a:ea typeface="Aptos"/>
                <a:cs typeface="Aptos"/>
              </a:rPr>
              <a:t>479 M</a:t>
            </a:r>
          </a:p>
        </p:txBody>
      </p:sp>
      <p:sp>
        <p:nvSpPr>
          <p:cNvPr id="15" name="growth-unit-2">
            <a:extLst xmlns:a="http://schemas.openxmlformats.org/drawingml/2006/main">
              <a:ext uri="{FF2B5EF4-FFF2-40B4-BE49-F238E27FC236}">
                <a16:creationId xmlns:a16="http://schemas.microsoft.com/office/drawing/2014/main" id="{829C6586-B108-4C2B-8ABB-9D36581D9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4029075"/>
            <a:ext cx="266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9657D"/>
                </a:solidFill>
                <a:latin typeface="Aptos"/>
                <a:ea typeface="Aptos"/>
                <a:cs typeface="Aptos"/>
              </a:rPr>
              <a:t>olası tur</a:t>
            </a:r>
          </a:p>
        </p:txBody>
      </p:sp>
      <p:sp>
        <p:nvSpPr>
          <p:cNvPr id="16" name="growth-formula">
            <a:extLst xmlns:a="http://schemas.openxmlformats.org/drawingml/2006/main">
              <a:ext uri="{FF2B5EF4-FFF2-40B4-BE49-F238E27FC236}">
                <a16:creationId xmlns:a16="http://schemas.microsoft.com/office/drawing/2014/main" id="{E3483CA9-A77A-4667-9A12-07927992E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143500"/>
            <a:ext cx="685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667"/>
          </a:bodyPr>
          <a:lstStyle xmlns:a="http://schemas.openxmlformats.org/drawingml/2006/main"/>
          <a:p xmlns:a="http://schemas.openxmlformats.org/drawingml/2006/main">
            <a:pPr>
              <a:defRPr sz="180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80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Sabit başlangıçla yaklaşık (n − 1)! olası tur</a:t>
            </a:r>
          </a:p>
        </p:txBody>
      </p:sp>
      <p:sp>
        <p:nvSpPr>
          <p:cNvPr id="17" name="growth-message">
            <a:extLst xmlns:a="http://schemas.openxmlformats.org/drawingml/2006/main">
              <a:ext uri="{FF2B5EF4-FFF2-40B4-BE49-F238E27FC236}">
                <a16:creationId xmlns:a16="http://schemas.microsoft.com/office/drawing/2014/main" id="{DF7905E4-CBA7-456F-88E0-F84A8F5A9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62600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9657D"/>
                </a:solidFill>
                <a:latin typeface="Aptos"/>
                <a:ea typeface="Aptos"/>
                <a:cs typeface="Aptos"/>
              </a:rPr>
              <a:t>Bu nedenle problem, hibrit optimizasyon için iyi bir eğitim ve kıyaslama alanıdır.</a:t>
            </a:r>
          </a:p>
        </p:txBody>
      </p:sp>
      <p:sp>
        <p:nvSpPr>
          <p:cNvPr id="18" name="tag-NP-zor problem ailesi">
            <a:extLst xmlns:a="http://schemas.openxmlformats.org/drawingml/2006/main">
              <a:ext uri="{FF2B5EF4-FFF2-40B4-BE49-F238E27FC236}">
                <a16:creationId xmlns:a16="http://schemas.microsoft.com/office/drawing/2014/main" id="{2FB00F70-8132-485F-A1D1-0FAC32DBD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3050" y="5410200"/>
            <a:ext cx="22479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8FD"/>
          </a:solidFill>
          <a:ln xmlns:a="http://schemas.openxmlformats.org/drawingml/2006/main" w="9525">
            <a:solidFill>
              <a:srgbClr val="E8F8FD"/>
            </a:solidFill>
            <a:prstDash val="solid"/>
          </a:ln>
        </p:spPr>
      </p:sp>
      <p:sp>
        <p:nvSpPr>
          <p:cNvPr id="19" name="tag-text-NP-zor problem ailesi">
            <a:extLst xmlns:a="http://schemas.openxmlformats.org/drawingml/2006/main">
              <a:ext uri="{FF2B5EF4-FFF2-40B4-BE49-F238E27FC236}">
                <a16:creationId xmlns:a16="http://schemas.microsoft.com/office/drawing/2014/main" id="{C14683E4-4AEF-421D-AF33-C4EEFF53A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476875"/>
            <a:ext cx="201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7E9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E9E"/>
                </a:solidFill>
                <a:latin typeface="Aptos"/>
                <a:ea typeface="Aptos"/>
                <a:cs typeface="Aptos"/>
              </a:rPr>
              <a:t>NP-zor problem ailesi</a:t>
            </a:r>
          </a:p>
        </p:txBody>
      </p:sp>
      <p:sp>
        <p:nvSpPr>
          <p:cNvPr id="20" name="page-2">
            <a:extLst xmlns:a="http://schemas.openxmlformats.org/drawingml/2006/main">
              <a:ext uri="{FF2B5EF4-FFF2-40B4-BE49-F238E27FC236}">
                <a16:creationId xmlns:a16="http://schemas.microsoft.com/office/drawing/2014/main" id="{F07A3A72-6355-4DD6-BC07-F4A01A70F0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8B95AA"/>
                </a:solidFill>
                <a:latin typeface="Aptos"/>
                <a:ea typeface="Aptos"/>
                <a:cs typeface="Aptos"/>
              </a:defRPr>
            </a:pPr>
            <a:r>
              <a:rPr sz="825">
                <a:solidFill>
                  <a:srgbClr val="8B95AA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06621189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Çözüm-eyebrow">
            <a:extLst xmlns:a="http://schemas.openxmlformats.org/drawingml/2006/main">
              <a:ext uri="{FF2B5EF4-FFF2-40B4-BE49-F238E27FC236}">
                <a16:creationId xmlns:a16="http://schemas.microsoft.com/office/drawing/2014/main" id="{01A9287C-4EA9-42F3-B34E-E23677F30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658F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58F6"/>
                </a:solidFill>
                <a:latin typeface="Aptos"/>
                <a:ea typeface="Aptos"/>
                <a:cs typeface="Aptos"/>
              </a:rPr>
              <a:t>ÇÖZÜM</a:t>
            </a:r>
          </a:p>
        </p:txBody>
      </p:sp>
      <p:sp>
        <p:nvSpPr>
          <p:cNvPr id="2" name="Çözüm-title">
            <a:extLst xmlns:a="http://schemas.openxmlformats.org/drawingml/2006/main">
              <a:ext uri="{FF2B5EF4-FFF2-40B4-BE49-F238E27FC236}">
                <a16:creationId xmlns:a16="http://schemas.microsoft.com/office/drawing/2014/main" id="{7B728230-5AD2-4F30-AC02-7BBA93C04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Tek cümleden kanıtlı optimizasyon sonucuna.</a:t>
            </a:r>
          </a:p>
        </p:txBody>
      </p:sp>
      <p:sp>
        <p:nvSpPr>
          <p:cNvPr id="3" name="Çözüm-subtitle">
            <a:extLst xmlns:a="http://schemas.openxmlformats.org/drawingml/2006/main">
              <a:ext uri="{FF2B5EF4-FFF2-40B4-BE49-F238E27FC236}">
                <a16:creationId xmlns:a16="http://schemas.microsoft.com/office/drawing/2014/main" id="{3259BFB1-9817-42FF-8DC9-C8D11BF19F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9657D"/>
                </a:solidFill>
                <a:latin typeface="Aptos"/>
                <a:ea typeface="Aptos"/>
                <a:cs typeface="Aptos"/>
              </a:rPr>
              <a:t>Kullanıcı teknik terim bilmeden başlar; sistem problemi yapılandırır, çözücüleri çalıştırır ve sonucu açıklanabilir hale getirir.</a:t>
            </a:r>
          </a:p>
        </p:txBody>
      </p:sp>
      <p:sp>
        <p:nvSpPr>
          <p:cNvPr id="4" name="flow-card-0">
            <a:extLst xmlns:a="http://schemas.openxmlformats.org/drawingml/2006/main">
              <a:ext uri="{FF2B5EF4-FFF2-40B4-BE49-F238E27FC236}">
                <a16:creationId xmlns:a16="http://schemas.microsoft.com/office/drawing/2014/main" id="{DAE6B962-EE8E-4BB6-AA74-9AAE151C8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" y="2381250"/>
            <a:ext cx="2571750" cy="2619375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E"/>
            </a:solidFill>
            <a:prstDash val="solid"/>
          </a:ln>
        </p:spPr>
      </p:sp>
      <p:sp>
        <p:nvSpPr>
          <p:cNvPr id="5" name="flow-no-bg-0">
            <a:extLst xmlns:a="http://schemas.openxmlformats.org/drawingml/2006/main">
              <a:ext uri="{FF2B5EF4-FFF2-40B4-BE49-F238E27FC236}">
                <a16:creationId xmlns:a16="http://schemas.microsoft.com/office/drawing/2014/main" id="{14A3F724-A77D-4085-BE8A-AA8735541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609850"/>
            <a:ext cx="51435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BDEB"/>
          </a:solidFill>
          <a:ln xmlns:a="http://schemas.openxmlformats.org/drawingml/2006/main" w="9525">
            <a:solidFill>
              <a:srgbClr val="16BDEB"/>
            </a:solidFill>
            <a:prstDash val="solid"/>
          </a:ln>
        </p:spPr>
      </p:sp>
      <p:sp>
        <p:nvSpPr>
          <p:cNvPr id="6" name="flow-no-0">
            <a:extLst xmlns:a="http://schemas.openxmlformats.org/drawingml/2006/main">
              <a:ext uri="{FF2B5EF4-FFF2-40B4-BE49-F238E27FC236}">
                <a16:creationId xmlns:a16="http://schemas.microsoft.com/office/drawing/2014/main" id="{FC7C493F-EDED-4B62-8C96-FD7E0CFAA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695575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7" name="flow-title-0">
            <a:extLst xmlns:a="http://schemas.openxmlformats.org/drawingml/2006/main">
              <a:ext uri="{FF2B5EF4-FFF2-40B4-BE49-F238E27FC236}">
                <a16:creationId xmlns:a16="http://schemas.microsoft.com/office/drawing/2014/main" id="{5EE6708F-6915-4104-981D-710548FA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1623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Normal Türkçe</a:t>
            </a:r>
          </a:p>
        </p:txBody>
      </p:sp>
      <p:sp>
        <p:nvSpPr>
          <p:cNvPr id="8" name="flow-body-0">
            <a:extLst xmlns:a="http://schemas.openxmlformats.org/drawingml/2006/main">
              <a:ext uri="{FF2B5EF4-FFF2-40B4-BE49-F238E27FC236}">
                <a16:creationId xmlns:a16="http://schemas.microsoft.com/office/drawing/2014/main" id="{97F7EE87-1A98-49FD-A2BE-D6A38F7A78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14750"/>
            <a:ext cx="21145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9657D"/>
                </a:solidFill>
                <a:latin typeface="Aptos"/>
                <a:ea typeface="Aptos"/>
                <a:cs typeface="Aptos"/>
              </a:rPr>
              <a:t>“İstanbul, Ankara ve İzmir için en kısa turu bul.”</a:t>
            </a:r>
          </a:p>
        </p:txBody>
      </p:sp>
      <p:sp>
        <p:nvSpPr>
          <p:cNvPr id="9" name="flow-card-1">
            <a:extLst xmlns:a="http://schemas.openxmlformats.org/drawingml/2006/main">
              <a:ext uri="{FF2B5EF4-FFF2-40B4-BE49-F238E27FC236}">
                <a16:creationId xmlns:a16="http://schemas.microsoft.com/office/drawing/2014/main" id="{DAAC7E16-BD59-48D7-986D-DC8227E14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1375" y="2381250"/>
            <a:ext cx="2571750" cy="2619375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E"/>
            </a:solidFill>
            <a:prstDash val="solid"/>
          </a:ln>
        </p:spPr>
      </p:sp>
      <p:sp>
        <p:nvSpPr>
          <p:cNvPr id="10" name="flow-no-bg-1">
            <a:extLst xmlns:a="http://schemas.openxmlformats.org/drawingml/2006/main">
              <a:ext uri="{FF2B5EF4-FFF2-40B4-BE49-F238E27FC236}">
                <a16:creationId xmlns:a16="http://schemas.microsoft.com/office/drawing/2014/main" id="{2930A375-557C-41A3-A49E-947784D65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2609850"/>
            <a:ext cx="51435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8F6"/>
          </a:solidFill>
          <a:ln xmlns:a="http://schemas.openxmlformats.org/drawingml/2006/main" w="9525">
            <a:solidFill>
              <a:srgbClr val="6658F6"/>
            </a:solidFill>
            <a:prstDash val="solid"/>
          </a:ln>
        </p:spPr>
      </p:sp>
      <p:sp>
        <p:nvSpPr>
          <p:cNvPr id="11" name="flow-no-1">
            <a:extLst xmlns:a="http://schemas.openxmlformats.org/drawingml/2006/main">
              <a:ext uri="{FF2B5EF4-FFF2-40B4-BE49-F238E27FC236}">
                <a16:creationId xmlns:a16="http://schemas.microsoft.com/office/drawing/2014/main" id="{F463B92E-3D2F-4189-993C-D6CC334EE4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67125" y="2695575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2" name="flow-title-1">
            <a:extLst xmlns:a="http://schemas.openxmlformats.org/drawingml/2006/main">
              <a:ext uri="{FF2B5EF4-FFF2-40B4-BE49-F238E27FC236}">
                <a16:creationId xmlns:a16="http://schemas.microsoft.com/office/drawing/2014/main" id="{B5D6515C-5361-4473-A135-4FBEA82CF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1623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Problem modeli</a:t>
            </a:r>
          </a:p>
        </p:txBody>
      </p:sp>
      <p:sp>
        <p:nvSpPr>
          <p:cNvPr id="13" name="flow-body-1">
            <a:extLst xmlns:a="http://schemas.openxmlformats.org/drawingml/2006/main">
              <a:ext uri="{FF2B5EF4-FFF2-40B4-BE49-F238E27FC236}">
                <a16:creationId xmlns:a16="http://schemas.microsoft.com/office/drawing/2014/main" id="{62F42143-360D-48BC-BE6F-F408ACBEB5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714750"/>
            <a:ext cx="21145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9657D"/>
                </a:solidFill>
                <a:latin typeface="Aptos"/>
                <a:ea typeface="Aptos"/>
                <a:cs typeface="Aptos"/>
              </a:rPr>
              <a:t>Şehirler, amaç ve kısıtlar çözülebilir veriye dönüşür.</a:t>
            </a:r>
          </a:p>
        </p:txBody>
      </p:sp>
      <p:sp>
        <p:nvSpPr>
          <p:cNvPr id="14" name="flow-card-2">
            <a:extLst xmlns:a="http://schemas.openxmlformats.org/drawingml/2006/main">
              <a:ext uri="{FF2B5EF4-FFF2-40B4-BE49-F238E27FC236}">
                <a16:creationId xmlns:a16="http://schemas.microsoft.com/office/drawing/2014/main" id="{51A4E9DA-006C-411B-AF21-95332A156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381250"/>
            <a:ext cx="2571750" cy="2619375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E"/>
            </a:solidFill>
            <a:prstDash val="solid"/>
          </a:ln>
        </p:spPr>
      </p:sp>
      <p:sp>
        <p:nvSpPr>
          <p:cNvPr id="15" name="flow-no-bg-2">
            <a:extLst xmlns:a="http://schemas.openxmlformats.org/drawingml/2006/main">
              <a:ext uri="{FF2B5EF4-FFF2-40B4-BE49-F238E27FC236}">
                <a16:creationId xmlns:a16="http://schemas.microsoft.com/office/drawing/2014/main" id="{02F2749A-F631-4C5B-B2E8-A335A8D86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09850"/>
            <a:ext cx="51435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8C7BFF"/>
          </a:solidFill>
          <a:ln xmlns:a="http://schemas.openxmlformats.org/drawingml/2006/main" w="9525">
            <a:solidFill>
              <a:srgbClr val="8C7BFF"/>
            </a:solidFill>
            <a:prstDash val="solid"/>
          </a:ln>
        </p:spPr>
      </p:sp>
      <p:sp>
        <p:nvSpPr>
          <p:cNvPr id="16" name="flow-no-2">
            <a:extLst xmlns:a="http://schemas.openxmlformats.org/drawingml/2006/main">
              <a:ext uri="{FF2B5EF4-FFF2-40B4-BE49-F238E27FC236}">
                <a16:creationId xmlns:a16="http://schemas.microsoft.com/office/drawing/2014/main" id="{F9F95357-161A-49B8-A32F-7FCA5BCFA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695575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flow-title-2">
            <a:extLst xmlns:a="http://schemas.openxmlformats.org/drawingml/2006/main">
              <a:ext uri="{FF2B5EF4-FFF2-40B4-BE49-F238E27FC236}">
                <a16:creationId xmlns:a16="http://schemas.microsoft.com/office/drawing/2014/main" id="{3A70D862-6049-45FA-975D-C9D4B169F2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623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Hibrit motor</a:t>
            </a:r>
          </a:p>
        </p:txBody>
      </p:sp>
      <p:sp>
        <p:nvSpPr>
          <p:cNvPr id="18" name="flow-body-2">
            <a:extLst xmlns:a="http://schemas.openxmlformats.org/drawingml/2006/main">
              <a:ext uri="{FF2B5EF4-FFF2-40B4-BE49-F238E27FC236}">
                <a16:creationId xmlns:a16="http://schemas.microsoft.com/office/drawing/2014/main" id="{5E7D1B29-0EE2-4AB7-A53E-00937B6D8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714750"/>
            <a:ext cx="21145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9657D"/>
                </a:solidFill>
                <a:latin typeface="Aptos"/>
                <a:ea typeface="Aptos"/>
                <a:cs typeface="Aptos"/>
              </a:rPr>
              <a:t>Kesin, klasik yaklaşık, kuantum model ve Q# birlikte çalışır.</a:t>
            </a:r>
          </a:p>
        </p:txBody>
      </p:sp>
      <p:sp>
        <p:nvSpPr>
          <p:cNvPr id="19" name="flow-card-3">
            <a:extLst xmlns:a="http://schemas.openxmlformats.org/drawingml/2006/main">
              <a:ext uri="{FF2B5EF4-FFF2-40B4-BE49-F238E27FC236}">
                <a16:creationId xmlns:a16="http://schemas.microsoft.com/office/drawing/2014/main" id="{4FD92BD3-EDCC-4A52-BB51-1C6F88191E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9725" y="2381250"/>
            <a:ext cx="2571750" cy="2619375"/>
          </a:xfrm>
          <a:prstGeom xmlns:a="http://schemas.openxmlformats.org/drawingml/2006/main" prst="roundRect">
            <a:avLst>
              <a:gd name="adj" fmla="val 444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E"/>
            </a:solidFill>
            <a:prstDash val="solid"/>
          </a:ln>
        </p:spPr>
      </p:sp>
      <p:sp>
        <p:nvSpPr>
          <p:cNvPr id="20" name="flow-no-bg-3">
            <a:extLst xmlns:a="http://schemas.openxmlformats.org/drawingml/2006/main">
              <a:ext uri="{FF2B5EF4-FFF2-40B4-BE49-F238E27FC236}">
                <a16:creationId xmlns:a16="http://schemas.microsoft.com/office/drawing/2014/main" id="{96ED8E6D-4DEC-4DAA-9255-1417A3CFD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2609850"/>
            <a:ext cx="514350" cy="3429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A085"/>
          </a:solidFill>
          <a:ln xmlns:a="http://schemas.openxmlformats.org/drawingml/2006/main" w="9525">
            <a:solidFill>
              <a:srgbClr val="16A085"/>
            </a:solidFill>
            <a:prstDash val="solid"/>
          </a:ln>
        </p:spPr>
      </p:sp>
      <p:sp>
        <p:nvSpPr>
          <p:cNvPr id="21" name="flow-no-3">
            <a:extLst xmlns:a="http://schemas.openxmlformats.org/drawingml/2006/main">
              <a:ext uri="{FF2B5EF4-FFF2-40B4-BE49-F238E27FC236}">
                <a16:creationId xmlns:a16="http://schemas.microsoft.com/office/drawing/2014/main" id="{015057E0-03FE-4A8B-9555-FC4C0507A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5475" y="2695575"/>
            <a:ext cx="3619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58333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2" name="flow-title-3">
            <a:extLst xmlns:a="http://schemas.openxmlformats.org/drawingml/2006/main">
              <a:ext uri="{FF2B5EF4-FFF2-40B4-BE49-F238E27FC236}">
                <a16:creationId xmlns:a16="http://schemas.microsoft.com/office/drawing/2014/main" id="{D63EA935-7956-4085-AE70-DACBE0EE5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3162300"/>
            <a:ext cx="2095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72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72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Kanıtlı sonuç</a:t>
            </a:r>
          </a:p>
        </p:txBody>
      </p:sp>
      <p:sp>
        <p:nvSpPr>
          <p:cNvPr id="23" name="flow-body-3">
            <a:extLst xmlns:a="http://schemas.openxmlformats.org/drawingml/2006/main">
              <a:ext uri="{FF2B5EF4-FFF2-40B4-BE49-F238E27FC236}">
                <a16:creationId xmlns:a16="http://schemas.microsoft.com/office/drawing/2014/main" id="{7DB58213-BB8C-426E-A116-1B99058F8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39275" y="3714750"/>
            <a:ext cx="21145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275">
                <a:solidFill>
                  <a:srgbClr val="59657D"/>
                </a:solidFill>
                <a:latin typeface="Aptos"/>
                <a:ea typeface="Aptos"/>
                <a:cs typeface="Aptos"/>
              </a:rPr>
              <a:t>Rota, kalite, süre ve kuantum seviyesi yan yana görünür.</a:t>
            </a:r>
          </a:p>
        </p:txBody>
      </p:sp>
      <p:cxnSp>
        <p:nvCxnSpPr>
          <p:cNvPr id="52" name=""/>
          <p:cNvCxnSpPr>
            <a:stCxn xmlns:a="http://schemas.openxmlformats.org/drawingml/2006/main" id="4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3028950" y="3690938"/>
            <a:ext cx="3524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8B2C7"/>
            </a:solidFill>
            <a:prstDash val="solid"/>
            <a:tailEnd type="arrow" w="sm" len="sm"/>
          </a:ln>
        </p:spPr>
      </p:cxnSp>
      <p:cxnSp>
        <p:nvCxnSpPr>
          <p:cNvPr id="53" name=""/>
          <p:cNvCxnSpPr>
            <a:stCxn xmlns:a="http://schemas.openxmlformats.org/drawingml/2006/main" id="9" idx="3"/>
            <a:endCxn xmlns:a="http://schemas.openxmlformats.org/drawingml/2006/main" id="14" idx="1"/>
          </p:cNvCxnSpPr>
          <p:nvPr/>
        </p:nvCxnSpPr>
        <p:spPr>
          <a:xfrm xmlns:a="http://schemas.openxmlformats.org/drawingml/2006/main">
            <a:off x="5953125" y="3690938"/>
            <a:ext cx="3524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8B2C7"/>
            </a:solidFill>
            <a:prstDash val="solid"/>
            <a:tailEnd type="arrow" w="sm" len="sm"/>
          </a:ln>
        </p:spPr>
      </p:cxnSp>
      <p:cxnSp>
        <p:nvCxnSpPr>
          <p:cNvPr id="54" name=""/>
          <p:cNvCxnSpPr>
            <a:stCxn xmlns:a="http://schemas.openxmlformats.org/drawingml/2006/main" id="14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877300" y="3690938"/>
            <a:ext cx="3524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A8B2C7"/>
            </a:solidFill>
            <a:prstDash val="solid"/>
            <a:tailEnd type="arrow" w="sm" len="sm"/>
          </a:ln>
        </p:spPr>
      </p:cxnSp>
      <p:sp>
        <p:nvSpPr>
          <p:cNvPr id="27" name="flow-takeaway">
            <a:extLst xmlns:a="http://schemas.openxmlformats.org/drawingml/2006/main">
              <a:ext uri="{FF2B5EF4-FFF2-40B4-BE49-F238E27FC236}">
                <a16:creationId xmlns:a16="http://schemas.microsoft.com/office/drawing/2014/main" id="{BADE1F71-2565-4EB4-A225-FE9DC1780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5476875"/>
            <a:ext cx="895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6658F6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6658F6"/>
                </a:solidFill>
                <a:latin typeface="Aptos"/>
                <a:ea typeface="Aptos"/>
                <a:cs typeface="Aptos"/>
              </a:rPr>
              <a:t>Fark yaratan nokta: sadece rota üretmek değil, yöntemleri aynı koşulda karşılaştırmak.</a:t>
            </a:r>
          </a:p>
        </p:txBody>
      </p:sp>
      <p:sp>
        <p:nvSpPr>
          <p:cNvPr id="28" name="page-3">
            <a:extLst xmlns:a="http://schemas.openxmlformats.org/drawingml/2006/main">
              <a:ext uri="{FF2B5EF4-FFF2-40B4-BE49-F238E27FC236}">
                <a16:creationId xmlns:a16="http://schemas.microsoft.com/office/drawing/2014/main" id="{2FEB51D7-8F45-405C-B044-C79F14364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8B95AA"/>
                </a:solidFill>
                <a:latin typeface="Aptos"/>
                <a:ea typeface="Aptos"/>
                <a:cs typeface="Aptos"/>
              </a:defRPr>
            </a:pPr>
            <a:r>
              <a:rPr sz="825">
                <a:solidFill>
                  <a:srgbClr val="8B95AA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93481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Canlı demo-eyebrow">
            <a:extLst xmlns:a="http://schemas.openxmlformats.org/drawingml/2006/main">
              <a:ext uri="{FF2B5EF4-FFF2-40B4-BE49-F238E27FC236}">
                <a16:creationId xmlns:a16="http://schemas.microsoft.com/office/drawing/2014/main" id="{8FAD56A4-09B0-4269-8A70-46CE3ADB6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658F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58F6"/>
                </a:solidFill>
                <a:latin typeface="Aptos"/>
                <a:ea typeface="Aptos"/>
                <a:cs typeface="Aptos"/>
              </a:rPr>
              <a:t>CANLI DEMO</a:t>
            </a:r>
          </a:p>
        </p:txBody>
      </p:sp>
      <p:sp>
        <p:nvSpPr>
          <p:cNvPr id="2" name="Canlı demo-title">
            <a:extLst xmlns:a="http://schemas.openxmlformats.org/drawingml/2006/main">
              <a:ext uri="{FF2B5EF4-FFF2-40B4-BE49-F238E27FC236}">
                <a16:creationId xmlns:a16="http://schemas.microsoft.com/office/drawing/2014/main" id="{2EA728AD-BF4C-4E04-9F8C-15179FDD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Problemi yaz, sistem çözsün.</a:t>
            </a:r>
          </a:p>
        </p:txBody>
      </p:sp>
      <p:sp>
        <p:nvSpPr>
          <p:cNvPr id="3" name="demo-copy-card">
            <a:extLst xmlns:a="http://schemas.openxmlformats.org/drawingml/2006/main">
              <a:ext uri="{FF2B5EF4-FFF2-40B4-BE49-F238E27FC236}">
                <a16:creationId xmlns:a16="http://schemas.microsoft.com/office/drawing/2014/main" id="{5E69A867-5555-4829-A583-4EF2FEE8A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3619500" cy="3981450"/>
          </a:xfrm>
          <a:prstGeom xmlns:a="http://schemas.openxmlformats.org/drawingml/2006/main" prst="roundRect">
            <a:avLst>
              <a:gd name="adj" fmla="val 3158"/>
            </a:avLst>
          </a:prstGeom>
          <a:solidFill xmlns:a="http://schemas.openxmlformats.org/drawingml/2006/main">
            <a:srgbClr val="071426"/>
          </a:solidFill>
          <a:ln xmlns:a="http://schemas.openxmlformats.org/drawingml/2006/main" w="9525">
            <a:solidFill>
              <a:srgbClr val="071426"/>
            </a:solidFill>
            <a:prstDash val="solid"/>
          </a:ln>
        </p:spPr>
      </p:sp>
      <p:sp>
        <p:nvSpPr>
          <p:cNvPr id="4" name="demo-copy-kicker">
            <a:extLst xmlns:a="http://schemas.openxmlformats.org/drawingml/2006/main">
              <a:ext uri="{FF2B5EF4-FFF2-40B4-BE49-F238E27FC236}">
                <a16:creationId xmlns:a16="http://schemas.microsoft.com/office/drawing/2014/main" id="{272176BF-135D-45BB-88EB-414543488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1336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BD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BDEB"/>
                </a:solidFill>
                <a:latin typeface="Aptos"/>
                <a:ea typeface="Aptos"/>
                <a:cs typeface="Aptos"/>
              </a:rPr>
              <a:t>ÖRNEK KOMUT</a:t>
            </a:r>
          </a:p>
        </p:txBody>
      </p:sp>
      <p:sp>
        <p:nvSpPr>
          <p:cNvPr id="5" name="demo-copy">
            <a:extLst xmlns:a="http://schemas.openxmlformats.org/drawingml/2006/main">
              <a:ext uri="{FF2B5EF4-FFF2-40B4-BE49-F238E27FC236}">
                <a16:creationId xmlns:a16="http://schemas.microsoft.com/office/drawing/2014/main" id="{3A3B8F90-8942-4F81-B083-CE1895E7C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33650"/>
            <a:ext cx="3009900" cy="1695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014"/>
          </a:bodyPr>
          <a:lstStyle xmlns:a="http://schemas.openxmlformats.org/drawingml/2006/main"/>
          <a:p xmlns:a="http://schemas.openxmlformats.org/drawingml/2006/main">
            <a:pPr>
              <a:defRPr sz="18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8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“İstanbul’dan başlayıp Ankara, İzmir, Antalya ve Bursa’yı ziyaret eden en kısa turu bul. Klasik yöntemlerle kuantum yöntemini karşılaştır.”</a:t>
            </a:r>
          </a:p>
        </p:txBody>
      </p:sp>
      <p:sp>
        <p:nvSpPr>
          <p:cNvPr id="6" name="demo-three-steps">
            <a:extLst xmlns:a="http://schemas.openxmlformats.org/drawingml/2006/main">
              <a:ext uri="{FF2B5EF4-FFF2-40B4-BE49-F238E27FC236}">
                <a16:creationId xmlns:a16="http://schemas.microsoft.com/office/drawing/2014/main" id="{9DC023C7-AD18-4F2E-8D7B-BC07BBCAE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52950"/>
            <a:ext cx="285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BCC8DC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BCC8DC"/>
                </a:solidFill>
                <a:latin typeface="Aptos"/>
                <a:ea typeface="Aptos"/>
                <a:cs typeface="Aptos"/>
              </a:rPr>
              <a:t>1  Cümleyi anlar</a:t>
            </a:r>
          </a:p>
          <a:p xmlns:a="http://schemas.openxmlformats.org/drawingml/2006/main">
            <a:pPr>
              <a:defRPr sz="1350">
                <a:solidFill>
                  <a:srgbClr val="BCC8DC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BCC8DC"/>
                </a:solidFill>
                <a:latin typeface="Aptos"/>
                <a:ea typeface="Aptos"/>
                <a:cs typeface="Aptos"/>
              </a:rPr>
              <a:t>2  Şehirleri çıkarır</a:t>
            </a:r>
          </a:p>
          <a:p xmlns:a="http://schemas.openxmlformats.org/drawingml/2006/main">
            <a:pPr>
              <a:defRPr sz="1350">
                <a:solidFill>
                  <a:srgbClr val="BCC8DC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BCC8DC"/>
                </a:solidFill>
                <a:latin typeface="Aptos"/>
                <a:ea typeface="Aptos"/>
                <a:cs typeface="Aptos"/>
              </a:rPr>
              <a:t>3  Dört yöntemi çalıştırır</a:t>
            </a:r>
          </a:p>
        </p:txBody>
      </p:sp>
      <p:sp>
        <p:nvSpPr>
          <p:cNvPr id="7" name="demo-image-frame">
            <a:extLst xmlns:a="http://schemas.openxmlformats.org/drawingml/2006/main">
              <a:ext uri="{FF2B5EF4-FFF2-40B4-BE49-F238E27FC236}">
                <a16:creationId xmlns:a16="http://schemas.microsoft.com/office/drawing/2014/main" id="{51D4C834-5791-471F-AD12-F69C3EF2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48200" y="1619250"/>
            <a:ext cx="6858000" cy="4429125"/>
          </a:xfrm>
          <a:prstGeom xmlns:a="http://schemas.openxmlformats.org/drawingml/2006/main" prst="roundRect">
            <a:avLst>
              <a:gd name="adj" fmla="val 258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E"/>
            </a:solidFill>
            <a:prstDash val="solid"/>
          </a:ln>
        </p:spPr>
      </p:sp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887b1f583054eef"/>
          <a:stretch xmlns:a="http://schemas.openxmlformats.org/drawingml/2006/main"/>
        </p:blipFill>
        <p:spPr>
          <a:xfrm xmlns:a="http://schemas.openxmlformats.org/drawingml/2006/main">
            <a:off x="4781550" y="1980009"/>
            <a:ext cx="6591300" cy="3707606"/>
          </a:xfrm>
          <a:prstGeom xmlns:a="http://schemas.openxmlformats.org/drawingml/2006/main" prst="roundRect">
            <a:avLst>
              <a:gd name="adj" fmla="val 2746"/>
            </a:avLst>
          </a:prstGeom>
        </p:spPr>
      </p:pic>
      <p:sp>
        <p:nvSpPr>
          <p:cNvPr id="9" name="page-4">
            <a:extLst xmlns:a="http://schemas.openxmlformats.org/drawingml/2006/main">
              <a:ext uri="{FF2B5EF4-FFF2-40B4-BE49-F238E27FC236}">
                <a16:creationId xmlns:a16="http://schemas.microsoft.com/office/drawing/2014/main" id="{AD1F1F7B-B021-4602-9366-90E7CA80B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8B95AA"/>
                </a:solidFill>
                <a:latin typeface="Aptos"/>
                <a:ea typeface="Aptos"/>
                <a:cs typeface="Aptos"/>
              </a:defRPr>
            </a:pPr>
            <a:r>
              <a:rPr sz="825">
                <a:solidFill>
                  <a:srgbClr val="8B95AA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167676958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07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q-eyebrow">
            <a:extLst xmlns:a="http://schemas.openxmlformats.org/drawingml/2006/main">
              <a:ext uri="{FF2B5EF4-FFF2-40B4-BE49-F238E27FC236}">
                <a16:creationId xmlns:a16="http://schemas.microsoft.com/office/drawing/2014/main" id="{18536822-D4B3-4730-9C30-DEB8BBF81D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9100"/>
            <a:ext cx="6191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BD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BDEB"/>
                </a:solidFill>
                <a:latin typeface="Aptos"/>
                <a:ea typeface="Aptos"/>
                <a:cs typeface="Aptos"/>
              </a:rPr>
              <a:t>KUANTUM BU PROJENİN NERESİNDE?</a:t>
            </a:r>
          </a:p>
        </p:txBody>
      </p:sp>
      <p:sp>
        <p:nvSpPr>
          <p:cNvPr id="2" name="q-title">
            <a:extLst xmlns:a="http://schemas.openxmlformats.org/drawingml/2006/main">
              <a:ext uri="{FF2B5EF4-FFF2-40B4-BE49-F238E27FC236}">
                <a16:creationId xmlns:a16="http://schemas.microsoft.com/office/drawing/2014/main" id="{C36475D4-9555-4A28-A18D-940C1F0388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81050"/>
            <a:ext cx="981075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6473"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Rotalar olasılıklara dönüşür; iyi rotaların ölçülme şansı yükseltilir.</a:t>
            </a:r>
          </a:p>
        </p:txBody>
      </p:sp>
      <p:sp>
        <p:nvSpPr>
          <p:cNvPr id="3" name="q-card-0">
            <a:extLst xmlns:a="http://schemas.openxmlformats.org/drawingml/2006/main">
              <a:ext uri="{FF2B5EF4-FFF2-40B4-BE49-F238E27FC236}">
                <a16:creationId xmlns:a16="http://schemas.microsoft.com/office/drawing/2014/main" id="{6BAEF9FB-DBA4-41E6-9010-91D7370A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2590800" cy="272415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0C20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4" name="gate-bg-0">
            <a:extLst xmlns:a="http://schemas.openxmlformats.org/drawingml/2006/main">
              <a:ext uri="{FF2B5EF4-FFF2-40B4-BE49-F238E27FC236}">
                <a16:creationId xmlns:a16="http://schemas.microsoft.com/office/drawing/2014/main" id="{20E9EE63-C1AD-4076-A67F-0C279CB58D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28900"/>
            <a:ext cx="704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16BDEB"/>
          </a:solidFill>
          <a:ln xmlns:a="http://schemas.openxmlformats.org/drawingml/2006/main" w="9525">
            <a:solidFill>
              <a:srgbClr val="16BDEB"/>
            </a:solidFill>
            <a:prstDash val="solid"/>
          </a:ln>
        </p:spPr>
      </p:sp>
      <p:sp>
        <p:nvSpPr>
          <p:cNvPr id="5" name="gate-0">
            <a:extLst xmlns:a="http://schemas.openxmlformats.org/drawingml/2006/main">
              <a:ext uri="{FF2B5EF4-FFF2-40B4-BE49-F238E27FC236}">
                <a16:creationId xmlns:a16="http://schemas.microsoft.com/office/drawing/2014/main" id="{82BFD283-BDB1-456D-BDCE-3B4F4FEFD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762250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333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H</a:t>
            </a:r>
          </a:p>
        </p:txBody>
      </p:sp>
      <p:sp>
        <p:nvSpPr>
          <p:cNvPr id="6" name="q-title-0">
            <a:extLst xmlns:a="http://schemas.openxmlformats.org/drawingml/2006/main">
              <a:ext uri="{FF2B5EF4-FFF2-40B4-BE49-F238E27FC236}">
                <a16:creationId xmlns:a16="http://schemas.microsoft.com/office/drawing/2014/main" id="{D2BA08C1-F79B-4FF3-A8AD-29D948A2A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76625"/>
            <a:ext cx="2076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Süperpozisyon</a:t>
            </a:r>
          </a:p>
        </p:txBody>
      </p:sp>
      <p:sp>
        <p:nvSpPr>
          <p:cNvPr id="7" name="q-body-0">
            <a:extLst xmlns:a="http://schemas.openxmlformats.org/drawingml/2006/main">
              <a:ext uri="{FF2B5EF4-FFF2-40B4-BE49-F238E27FC236}">
                <a16:creationId xmlns:a16="http://schemas.microsoft.com/office/drawing/2014/main" id="{2A21B346-D205-4416-84B0-5AE49960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981450"/>
            <a:ext cx="209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EC0D8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AEC0D8"/>
                </a:solidFill>
                <a:latin typeface="Aptos"/>
                <a:ea typeface="Aptos"/>
                <a:cs typeface="Aptos"/>
              </a:rPr>
              <a:t>Rota durumlarını eşit başlangıç olasılığıyla hazırla.</a:t>
            </a:r>
          </a:p>
        </p:txBody>
      </p:sp>
      <p:sp>
        <p:nvSpPr>
          <p:cNvPr id="8" name="q-card-1">
            <a:extLst xmlns:a="http://schemas.openxmlformats.org/drawingml/2006/main">
              <a:ext uri="{FF2B5EF4-FFF2-40B4-BE49-F238E27FC236}">
                <a16:creationId xmlns:a16="http://schemas.microsoft.com/office/drawing/2014/main" id="{80F0E1A9-2495-47AD-B784-E22C5107A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67100" y="2381250"/>
            <a:ext cx="2590800" cy="272415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0C20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9" name="gate-bg-1">
            <a:extLst xmlns:a="http://schemas.openxmlformats.org/drawingml/2006/main">
              <a:ext uri="{FF2B5EF4-FFF2-40B4-BE49-F238E27FC236}">
                <a16:creationId xmlns:a16="http://schemas.microsoft.com/office/drawing/2014/main" id="{5EDC99B3-87D7-435E-9BFE-61A4BE90D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2628900"/>
            <a:ext cx="704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6658F6"/>
          </a:solidFill>
          <a:ln xmlns:a="http://schemas.openxmlformats.org/drawingml/2006/main" w="9525">
            <a:solidFill>
              <a:srgbClr val="6658F6"/>
            </a:solidFill>
            <a:prstDash val="solid"/>
          </a:ln>
        </p:spPr>
      </p:sp>
      <p:sp>
        <p:nvSpPr>
          <p:cNvPr id="10" name="gate-1">
            <a:extLst xmlns:a="http://schemas.openxmlformats.org/drawingml/2006/main">
              <a:ext uri="{FF2B5EF4-FFF2-40B4-BE49-F238E27FC236}">
                <a16:creationId xmlns:a16="http://schemas.microsoft.com/office/drawing/2014/main" id="{CF50AAFB-D627-4C51-9377-329261EA1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762250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333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P(γ)</a:t>
            </a:r>
          </a:p>
        </p:txBody>
      </p:sp>
      <p:sp>
        <p:nvSpPr>
          <p:cNvPr id="11" name="q-title-1">
            <a:extLst xmlns:a="http://schemas.openxmlformats.org/drawingml/2006/main">
              <a:ext uri="{FF2B5EF4-FFF2-40B4-BE49-F238E27FC236}">
                <a16:creationId xmlns:a16="http://schemas.microsoft.com/office/drawing/2014/main" id="{C3B2CF48-100B-4D73-85B0-0653AEFAC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476625"/>
            <a:ext cx="2076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Faz / maliyet</a:t>
            </a:r>
          </a:p>
        </p:txBody>
      </p:sp>
      <p:sp>
        <p:nvSpPr>
          <p:cNvPr id="12" name="q-body-1">
            <a:extLst xmlns:a="http://schemas.openxmlformats.org/drawingml/2006/main">
              <a:ext uri="{FF2B5EF4-FFF2-40B4-BE49-F238E27FC236}">
                <a16:creationId xmlns:a16="http://schemas.microsoft.com/office/drawing/2014/main" id="{3A94CC3F-9C21-4A71-9A9A-D0798CEDF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95700" y="3981450"/>
            <a:ext cx="209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EC0D8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AEC0D8"/>
                </a:solidFill>
                <a:latin typeface="Aptos"/>
                <a:ea typeface="Aptos"/>
                <a:cs typeface="Aptos"/>
              </a:rPr>
              <a:t>Kısa ve uzun rotalara maliyetlerine göre farklı faz ver.</a:t>
            </a:r>
          </a:p>
        </p:txBody>
      </p:sp>
      <p:sp>
        <p:nvSpPr>
          <p:cNvPr id="13" name="q-card-2">
            <a:extLst xmlns:a="http://schemas.openxmlformats.org/drawingml/2006/main">
              <a:ext uri="{FF2B5EF4-FFF2-40B4-BE49-F238E27FC236}">
                <a16:creationId xmlns:a16="http://schemas.microsoft.com/office/drawing/2014/main" id="{8A133541-B32C-473A-9200-CE80414529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81250"/>
            <a:ext cx="2590800" cy="272415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0C20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4" name="gate-bg-2">
            <a:extLst xmlns:a="http://schemas.openxmlformats.org/drawingml/2006/main">
              <a:ext uri="{FF2B5EF4-FFF2-40B4-BE49-F238E27FC236}">
                <a16:creationId xmlns:a16="http://schemas.microsoft.com/office/drawing/2014/main" id="{25C9A416-38DF-4F1E-9123-EF5C4928C0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628900"/>
            <a:ext cx="704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6658F6"/>
          </a:solidFill>
          <a:ln xmlns:a="http://schemas.openxmlformats.org/drawingml/2006/main" w="9525">
            <a:solidFill>
              <a:srgbClr val="6658F6"/>
            </a:solidFill>
            <a:prstDash val="solid"/>
          </a:ln>
        </p:spPr>
      </p:sp>
      <p:sp>
        <p:nvSpPr>
          <p:cNvPr id="15" name="gate-2">
            <a:extLst xmlns:a="http://schemas.openxmlformats.org/drawingml/2006/main">
              <a:ext uri="{FF2B5EF4-FFF2-40B4-BE49-F238E27FC236}">
                <a16:creationId xmlns:a16="http://schemas.microsoft.com/office/drawing/2014/main" id="{0FAAD37F-0EAD-4068-8FF6-A23FA4FE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7025" y="2762250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333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M(β)</a:t>
            </a:r>
          </a:p>
        </p:txBody>
      </p:sp>
      <p:sp>
        <p:nvSpPr>
          <p:cNvPr id="16" name="q-title-2">
            <a:extLst xmlns:a="http://schemas.openxmlformats.org/drawingml/2006/main">
              <a:ext uri="{FF2B5EF4-FFF2-40B4-BE49-F238E27FC236}">
                <a16:creationId xmlns:a16="http://schemas.microsoft.com/office/drawing/2014/main" id="{A6AEEA79-E9D5-4CEF-B343-686AE7EDAD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476625"/>
            <a:ext cx="2076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Karıştırıcı</a:t>
            </a:r>
          </a:p>
        </p:txBody>
      </p:sp>
      <p:sp>
        <p:nvSpPr>
          <p:cNvPr id="17" name="q-body-2">
            <a:extLst xmlns:a="http://schemas.openxmlformats.org/drawingml/2006/main">
              <a:ext uri="{FF2B5EF4-FFF2-40B4-BE49-F238E27FC236}">
                <a16:creationId xmlns:a16="http://schemas.microsoft.com/office/drawing/2014/main" id="{52248D5F-5622-4A1A-9162-F127F7134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981450"/>
            <a:ext cx="209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EC0D8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AEC0D8"/>
                </a:solidFill>
                <a:latin typeface="Aptos"/>
                <a:ea typeface="Aptos"/>
                <a:cs typeface="Aptos"/>
              </a:rPr>
              <a:t>Olasılık genliklerini yeniden dağıt; iyi adayları güçlendirmeyi hedefle.</a:t>
            </a:r>
          </a:p>
        </p:txBody>
      </p:sp>
      <p:sp>
        <p:nvSpPr>
          <p:cNvPr id="18" name="q-card-3">
            <a:extLst xmlns:a="http://schemas.openxmlformats.org/drawingml/2006/main">
              <a:ext uri="{FF2B5EF4-FFF2-40B4-BE49-F238E27FC236}">
                <a16:creationId xmlns:a16="http://schemas.microsoft.com/office/drawing/2014/main" id="{A5B2BD07-C7D4-45E0-9B20-55848F1505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381250"/>
            <a:ext cx="2590800" cy="2724150"/>
          </a:xfrm>
          <a:prstGeom xmlns:a="http://schemas.openxmlformats.org/drawingml/2006/main" prst="roundRect">
            <a:avLst>
              <a:gd name="adj" fmla="val 4412"/>
            </a:avLst>
          </a:prstGeom>
          <a:solidFill xmlns:a="http://schemas.openxmlformats.org/drawingml/2006/main">
            <a:srgbClr val="0C203A"/>
          </a:solidFill>
          <a:ln xmlns:a="http://schemas.openxmlformats.org/drawingml/2006/main" w="9525">
            <a:solidFill>
              <a:srgbClr val="24415F"/>
            </a:solidFill>
            <a:prstDash val="solid"/>
          </a:ln>
        </p:spPr>
      </p:sp>
      <p:sp>
        <p:nvSpPr>
          <p:cNvPr id="19" name="gate-bg-3">
            <a:extLst xmlns:a="http://schemas.openxmlformats.org/drawingml/2006/main">
              <a:ext uri="{FF2B5EF4-FFF2-40B4-BE49-F238E27FC236}">
                <a16:creationId xmlns:a16="http://schemas.microsoft.com/office/drawing/2014/main" id="{8673EF59-618A-430E-9EA3-0BA272E239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2628900"/>
            <a:ext cx="704850" cy="552450"/>
          </a:xfrm>
          <a:prstGeom xmlns:a="http://schemas.openxmlformats.org/drawingml/2006/main" prst="roundRect">
            <a:avLst>
              <a:gd name="adj" fmla="val 13793"/>
            </a:avLst>
          </a:prstGeom>
          <a:solidFill xmlns:a="http://schemas.openxmlformats.org/drawingml/2006/main">
            <a:srgbClr val="6658F6"/>
          </a:solidFill>
          <a:ln xmlns:a="http://schemas.openxmlformats.org/drawingml/2006/main" w="9525">
            <a:solidFill>
              <a:srgbClr val="6658F6"/>
            </a:solidFill>
            <a:prstDash val="solid"/>
          </a:ln>
        </p:spPr>
      </p:sp>
      <p:sp>
        <p:nvSpPr>
          <p:cNvPr id="20" name="gate-3">
            <a:extLst xmlns:a="http://schemas.openxmlformats.org/drawingml/2006/main">
              <a:ext uri="{FF2B5EF4-FFF2-40B4-BE49-F238E27FC236}">
                <a16:creationId xmlns:a16="http://schemas.microsoft.com/office/drawing/2014/main" id="{6692ADFC-E5E7-4D99-95C3-D457C30025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91675" y="2762250"/>
            <a:ext cx="571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8333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M</a:t>
            </a:r>
          </a:p>
        </p:txBody>
      </p:sp>
      <p:sp>
        <p:nvSpPr>
          <p:cNvPr id="21" name="q-title-3">
            <a:extLst xmlns:a="http://schemas.openxmlformats.org/drawingml/2006/main">
              <a:ext uri="{FF2B5EF4-FFF2-40B4-BE49-F238E27FC236}">
                <a16:creationId xmlns:a16="http://schemas.microsoft.com/office/drawing/2014/main" id="{39FF4242-02C9-46F9-B9F5-134CC59BF7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476625"/>
            <a:ext cx="20764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65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65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Ölçüm</a:t>
            </a:r>
          </a:p>
        </p:txBody>
      </p:sp>
      <p:sp>
        <p:nvSpPr>
          <p:cNvPr id="22" name="q-body-3">
            <a:extLst xmlns:a="http://schemas.openxmlformats.org/drawingml/2006/main">
              <a:ext uri="{FF2B5EF4-FFF2-40B4-BE49-F238E27FC236}">
                <a16:creationId xmlns:a16="http://schemas.microsoft.com/office/drawing/2014/main" id="{FD7CCE0A-D25E-4780-95A6-87BFDD4D1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0" y="3981450"/>
            <a:ext cx="2095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AEC0D8"/>
                </a:solidFill>
                <a:latin typeface="Aptos"/>
                <a:ea typeface="Aptos"/>
                <a:cs typeface="Aptos"/>
              </a:defRPr>
            </a:pPr>
            <a:r>
              <a:rPr sz="1200">
                <a:solidFill>
                  <a:srgbClr val="AEC0D8"/>
                </a:solidFill>
                <a:latin typeface="Aptos"/>
                <a:ea typeface="Aptos"/>
                <a:cs typeface="Aptos"/>
              </a:rPr>
              <a:t>Devreyi tekrar ölç; sık çıkan iyi rotaları klasik motorla doğrula.</a:t>
            </a:r>
          </a:p>
        </p:txBody>
      </p:sp>
      <p:cxnSp>
        <p:nvCxnSpPr>
          <p:cNvPr id="50" name=""/>
          <p:cNvCxnSpPr>
            <a:stCxn xmlns:a="http://schemas.openxmlformats.org/drawingml/2006/main" id="3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3143250" y="374332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BDEB"/>
            </a:solidFill>
            <a:prstDash val="solid"/>
            <a:tailEnd type="arrow" w="sm" len="sm"/>
          </a:ln>
        </p:spPr>
      </p:cxnSp>
      <p:cxnSp>
        <p:nvCxnSpPr>
          <p:cNvPr id="51" name=""/>
          <p:cNvCxnSpPr>
            <a:stCxn xmlns:a="http://schemas.openxmlformats.org/drawingml/2006/main" id="8" idx="3"/>
            <a:endCxn xmlns:a="http://schemas.openxmlformats.org/drawingml/2006/main" id="13" idx="1"/>
          </p:cNvCxnSpPr>
          <p:nvPr/>
        </p:nvCxnSpPr>
        <p:spPr>
          <a:xfrm xmlns:a="http://schemas.openxmlformats.org/drawingml/2006/main">
            <a:off x="6057900" y="374332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BDEB"/>
            </a:solidFill>
            <a:prstDash val="solid"/>
            <a:tailEnd type="arrow" w="sm" len="sm"/>
          </a:ln>
        </p:spPr>
      </p:cxnSp>
      <p:cxnSp>
        <p:nvCxnSpPr>
          <p:cNvPr id="52" name=""/>
          <p:cNvCxnSpPr>
            <a:stCxn xmlns:a="http://schemas.openxmlformats.org/drawingml/2006/main" id="13" idx="3"/>
            <a:endCxn xmlns:a="http://schemas.openxmlformats.org/drawingml/2006/main" id="18" idx="1"/>
          </p:cNvCxnSpPr>
          <p:nvPr/>
        </p:nvCxnSpPr>
        <p:spPr>
          <a:xfrm xmlns:a="http://schemas.openxmlformats.org/drawingml/2006/main">
            <a:off x="8972550" y="3743325"/>
            <a:ext cx="3238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16BDEB"/>
            </a:solidFill>
            <a:prstDash val="solid"/>
            <a:tailEnd type="arrow" w="sm" len="sm"/>
          </a:ln>
        </p:spPr>
      </p:cxnSp>
      <p:sp>
        <p:nvSpPr>
          <p:cNvPr id="26" name="q-truth">
            <a:extLst xmlns:a="http://schemas.openxmlformats.org/drawingml/2006/main">
              <a:ext uri="{FF2B5EF4-FFF2-40B4-BE49-F238E27FC236}">
                <a16:creationId xmlns:a16="http://schemas.microsoft.com/office/drawing/2014/main" id="{64E0CA24-F66E-448F-8000-FB6559057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5900" y="5619750"/>
            <a:ext cx="9220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6BDEB"/>
                </a:solidFill>
                <a:latin typeface="Aptos"/>
                <a:ea typeface="Aptos"/>
                <a:cs typeface="Aptos"/>
              </a:defRPr>
            </a:pPr>
            <a:r>
              <a:rPr sz="1425" b="1">
                <a:solidFill>
                  <a:srgbClr val="16BDEB"/>
                </a:solidFill>
                <a:latin typeface="Aptos"/>
                <a:ea typeface="Aptos"/>
                <a:cs typeface="Aptos"/>
              </a:rPr>
              <a:t>Dürüst iddia: Kuantum devresi çalışıyor; otomatik hız avantajı iddia edilmiyor — deney ölçüyor.</a:t>
            </a:r>
          </a:p>
        </p:txBody>
      </p:sp>
      <p:sp>
        <p:nvSpPr>
          <p:cNvPr id="27" name="page-5">
            <a:extLst xmlns:a="http://schemas.openxmlformats.org/drawingml/2006/main">
              <a:ext uri="{FF2B5EF4-FFF2-40B4-BE49-F238E27FC236}">
                <a16:creationId xmlns:a16="http://schemas.microsoft.com/office/drawing/2014/main" id="{CE36D9E9-24FD-49E6-9D54-D64364662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8B95AA"/>
                </a:solidFill>
                <a:latin typeface="Aptos"/>
                <a:ea typeface="Aptos"/>
                <a:cs typeface="Aptos"/>
              </a:defRPr>
            </a:pPr>
            <a:r>
              <a:rPr sz="825">
                <a:solidFill>
                  <a:srgbClr val="8B95AA"/>
                </a:solidFill>
                <a:latin typeface="Aptos"/>
                <a:ea typeface="Aptos"/>
                <a:cs typeface="Aptos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89347959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Kanıt-eyebrow">
            <a:extLst xmlns:a="http://schemas.openxmlformats.org/drawingml/2006/main">
              <a:ext uri="{FF2B5EF4-FFF2-40B4-BE49-F238E27FC236}">
                <a16:creationId xmlns:a16="http://schemas.microsoft.com/office/drawing/2014/main" id="{F70E10E6-06A9-4146-887C-43FB24B4C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658F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58F6"/>
                </a:solidFill>
                <a:latin typeface="Aptos"/>
                <a:ea typeface="Aptos"/>
                <a:cs typeface="Aptos"/>
              </a:rPr>
              <a:t>KANIT</a:t>
            </a:r>
          </a:p>
        </p:txBody>
      </p:sp>
      <p:sp>
        <p:nvSpPr>
          <p:cNvPr id="2" name="Kanıt-title">
            <a:extLst xmlns:a="http://schemas.openxmlformats.org/drawingml/2006/main">
              <a:ext uri="{FF2B5EF4-FFF2-40B4-BE49-F238E27FC236}">
                <a16:creationId xmlns:a16="http://schemas.microsoft.com/office/drawing/2014/main" id="{DC72E7A9-AF88-4159-9196-190F9FE4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‘Kuantumlu’ olduğunu üç seviyede görünür kılıyoruz.</a:t>
            </a:r>
          </a:p>
        </p:txBody>
      </p:sp>
      <p:sp>
        <p:nvSpPr>
          <p:cNvPr id="3" name="Kanıt-subtitle">
            <a:extLst xmlns:a="http://schemas.openxmlformats.org/drawingml/2006/main">
              <a:ext uri="{FF2B5EF4-FFF2-40B4-BE49-F238E27FC236}">
                <a16:creationId xmlns:a16="http://schemas.microsoft.com/office/drawing/2014/main" id="{105AE8D7-1131-49E7-8907-4CBF8B23C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9657D"/>
                </a:solidFill>
                <a:latin typeface="Aptos"/>
                <a:ea typeface="Aptos"/>
                <a:cs typeface="Aptos"/>
              </a:rPr>
              <a:t>Ekran, hangi seviyenin gerçekten çalıştığını sonuçla birlikte işaretler.</a:t>
            </a:r>
          </a:p>
        </p:txBody>
      </p:sp>
      <p:sp>
        <p:nvSpPr>
          <p:cNvPr id="4" name="level-0">
            <a:extLst xmlns:a="http://schemas.openxmlformats.org/drawingml/2006/main">
              <a:ext uri="{FF2B5EF4-FFF2-40B4-BE49-F238E27FC236}">
                <a16:creationId xmlns:a16="http://schemas.microsoft.com/office/drawing/2014/main" id="{1F447251-D491-4A53-9EBF-DDB5F5CAB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4000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BDEB"/>
            </a:solidFill>
            <a:prstDash val="solid"/>
          </a:ln>
        </p:spPr>
      </p:sp>
      <p:sp>
        <p:nvSpPr>
          <p:cNvPr id="5" name="level-n-bg-0">
            <a:extLst xmlns:a="http://schemas.openxmlformats.org/drawingml/2006/main">
              <a:ext uri="{FF2B5EF4-FFF2-40B4-BE49-F238E27FC236}">
                <a16:creationId xmlns:a16="http://schemas.microsoft.com/office/drawing/2014/main" id="{75A0358A-5481-4145-B302-738C3F145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3812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BDEB"/>
          </a:solidFill>
          <a:ln xmlns:a="http://schemas.openxmlformats.org/drawingml/2006/main" w="9525">
            <a:solidFill>
              <a:srgbClr val="16BDEB"/>
            </a:solidFill>
            <a:prstDash val="solid"/>
          </a:ln>
        </p:spPr>
      </p:sp>
      <p:sp>
        <p:nvSpPr>
          <p:cNvPr id="6" name="level-n-0">
            <a:extLst xmlns:a="http://schemas.openxmlformats.org/drawingml/2006/main">
              <a:ext uri="{FF2B5EF4-FFF2-40B4-BE49-F238E27FC236}">
                <a16:creationId xmlns:a16="http://schemas.microsoft.com/office/drawing/2014/main" id="{1A4744DD-3483-4CA0-9FEE-CC87CF4A7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24860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374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7" name="level-title-0">
            <a:extLst xmlns:a="http://schemas.openxmlformats.org/drawingml/2006/main">
              <a:ext uri="{FF2B5EF4-FFF2-40B4-BE49-F238E27FC236}">
                <a16:creationId xmlns:a16="http://schemas.microsoft.com/office/drawing/2014/main" id="{E96881C3-5511-4022-B7AF-4837EBC6F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35267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Kuantum modeli</a:t>
            </a:r>
          </a:p>
        </p:txBody>
      </p:sp>
      <p:sp>
        <p:nvSpPr>
          <p:cNvPr id="8" name="level-body-0">
            <a:extLst xmlns:a="http://schemas.openxmlformats.org/drawingml/2006/main">
              <a:ext uri="{FF2B5EF4-FFF2-40B4-BE49-F238E27FC236}">
                <a16:creationId xmlns:a16="http://schemas.microsoft.com/office/drawing/2014/main" id="{BF99E539-8FF5-408D-896D-68CD1F35F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2676525"/>
            <a:ext cx="2781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9657D"/>
                </a:solidFill>
                <a:latin typeface="Aptos"/>
                <a:ea typeface="Aptos"/>
                <a:cs typeface="Aptos"/>
              </a:rPr>
              <a:t>Statevector / olasılık simülasyonu</a:t>
            </a:r>
          </a:p>
        </p:txBody>
      </p:sp>
      <p:sp>
        <p:nvSpPr>
          <p:cNvPr id="9" name="level-1">
            <a:extLst xmlns:a="http://schemas.openxmlformats.org/drawingml/2006/main">
              <a:ext uri="{FF2B5EF4-FFF2-40B4-BE49-F238E27FC236}">
                <a16:creationId xmlns:a16="http://schemas.microsoft.com/office/drawing/2014/main" id="{D4C85ED3-CBA8-4C91-8CB3-FA4442122A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314700"/>
            <a:ext cx="4000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6658F6"/>
            </a:solidFill>
            <a:prstDash val="solid"/>
          </a:ln>
        </p:spPr>
      </p:sp>
      <p:sp>
        <p:nvSpPr>
          <p:cNvPr id="10" name="level-n-bg-1">
            <a:extLst xmlns:a="http://schemas.openxmlformats.org/drawingml/2006/main">
              <a:ext uri="{FF2B5EF4-FFF2-40B4-BE49-F238E27FC236}">
                <a16:creationId xmlns:a16="http://schemas.microsoft.com/office/drawing/2014/main" id="{D948CDEB-C5B7-4E0D-BD09-7D70C5C5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4861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8F6"/>
          </a:solidFill>
          <a:ln xmlns:a="http://schemas.openxmlformats.org/drawingml/2006/main" w="9525">
            <a:solidFill>
              <a:srgbClr val="6658F6"/>
            </a:solidFill>
            <a:prstDash val="solid"/>
          </a:ln>
        </p:spPr>
      </p:sp>
      <p:sp>
        <p:nvSpPr>
          <p:cNvPr id="11" name="level-n-1">
            <a:extLst xmlns:a="http://schemas.openxmlformats.org/drawingml/2006/main">
              <a:ext uri="{FF2B5EF4-FFF2-40B4-BE49-F238E27FC236}">
                <a16:creationId xmlns:a16="http://schemas.microsoft.com/office/drawing/2014/main" id="{B336C6F3-0A11-4189-873E-6467CB2F8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909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374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2" name="level-title-1">
            <a:extLst xmlns:a="http://schemas.openxmlformats.org/drawingml/2006/main">
              <a:ext uri="{FF2B5EF4-FFF2-40B4-BE49-F238E27FC236}">
                <a16:creationId xmlns:a16="http://schemas.microsoft.com/office/drawing/2014/main" id="{B1A877D6-EEB3-45B0-BABA-C74ED8479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45757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Microsoft Q# devresi</a:t>
            </a:r>
          </a:p>
        </p:txBody>
      </p:sp>
      <p:sp>
        <p:nvSpPr>
          <p:cNvPr id="13" name="level-body-1">
            <a:extLst xmlns:a="http://schemas.openxmlformats.org/drawingml/2006/main">
              <a:ext uri="{FF2B5EF4-FFF2-40B4-BE49-F238E27FC236}">
                <a16:creationId xmlns:a16="http://schemas.microsoft.com/office/drawing/2014/main" id="{88734E6A-C268-4C91-A732-B47191867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3781425"/>
            <a:ext cx="2781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9657D"/>
                </a:solidFill>
                <a:latin typeface="Aptos"/>
                <a:ea typeface="Aptos"/>
                <a:cs typeface="Aptos"/>
              </a:rPr>
              <a:t>Kuantum kapıları + ölçüm + devre kimliği</a:t>
            </a:r>
          </a:p>
        </p:txBody>
      </p:sp>
      <p:sp>
        <p:nvSpPr>
          <p:cNvPr id="14" name="level-2">
            <a:extLst xmlns:a="http://schemas.openxmlformats.org/drawingml/2006/main">
              <a:ext uri="{FF2B5EF4-FFF2-40B4-BE49-F238E27FC236}">
                <a16:creationId xmlns:a16="http://schemas.microsoft.com/office/drawing/2014/main" id="{3DD33A50-DD94-44CA-AC83-7694EB3FE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19600"/>
            <a:ext cx="4000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16A085"/>
            </a:solidFill>
            <a:prstDash val="solid"/>
          </a:ln>
        </p:spPr>
      </p:sp>
      <p:sp>
        <p:nvSpPr>
          <p:cNvPr id="15" name="level-n-bg-2">
            <a:extLst xmlns:a="http://schemas.openxmlformats.org/drawingml/2006/main">
              <a:ext uri="{FF2B5EF4-FFF2-40B4-BE49-F238E27FC236}">
                <a16:creationId xmlns:a16="http://schemas.microsoft.com/office/drawing/2014/main" id="{98BB32EB-DE00-457D-8D0C-41AA231E9B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45910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A085"/>
          </a:solidFill>
          <a:ln xmlns:a="http://schemas.openxmlformats.org/drawingml/2006/main" w="9525">
            <a:solidFill>
              <a:srgbClr val="16A085"/>
            </a:solidFill>
            <a:prstDash val="solid"/>
          </a:ln>
        </p:spPr>
      </p:sp>
      <p:sp>
        <p:nvSpPr>
          <p:cNvPr id="16" name="level-n-2">
            <a:extLst xmlns:a="http://schemas.openxmlformats.org/drawingml/2006/main">
              <a:ext uri="{FF2B5EF4-FFF2-40B4-BE49-F238E27FC236}">
                <a16:creationId xmlns:a16="http://schemas.microsoft.com/office/drawing/2014/main" id="{CFE6FC74-DA5F-4C71-8126-29C27E64F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4695825"/>
            <a:ext cx="2476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374"/>
          </a:bodyPr>
          <a:lstStyle xmlns:a="http://schemas.openxmlformats.org/drawingml/2006/main"/>
          <a:p xmlns:a="http://schemas.openxmlformats.org/drawingml/2006/main">
            <a:pPr algn="ctr">
              <a:defRPr sz="1575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575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7" name="level-title-2">
            <a:extLst xmlns:a="http://schemas.openxmlformats.org/drawingml/2006/main">
              <a:ext uri="{FF2B5EF4-FFF2-40B4-BE49-F238E27FC236}">
                <a16:creationId xmlns:a16="http://schemas.microsoft.com/office/drawing/2014/main" id="{46D8F5D7-0BC1-4838-8461-4642C9E30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562475"/>
            <a:ext cx="2762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85000"/>
          </a:bodyPr>
          <a:lstStyle xmlns:a="http://schemas.openxmlformats.org/drawingml/2006/main"/>
          <a:p xmlns:a="http://schemas.openxmlformats.org/drawingml/2006/main">
            <a:pPr>
              <a:defRPr sz="150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50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Azure Quantum</a:t>
            </a:r>
          </a:p>
        </p:txBody>
      </p:sp>
      <p:sp>
        <p:nvSpPr>
          <p:cNvPr id="18" name="level-body-2">
            <a:extLst xmlns:a="http://schemas.openxmlformats.org/drawingml/2006/main">
              <a:ext uri="{FF2B5EF4-FFF2-40B4-BE49-F238E27FC236}">
                <a16:creationId xmlns:a16="http://schemas.microsoft.com/office/drawing/2014/main" id="{91474AB4-3F90-4837-AC20-4873260F1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" y="4886325"/>
            <a:ext cx="2781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1111"/>
          </a:bodyPr>
          <a:lstStyle xmlns:a="http://schemas.openxmlformats.org/drawingml/2006/main"/>
          <a:p xmlns:a="http://schemas.openxmlformats.org/drawingml/2006/main">
            <a:pPr>
              <a:defRPr sz="1125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125">
                <a:solidFill>
                  <a:srgbClr val="59657D"/>
                </a:solidFill>
                <a:latin typeface="Aptos"/>
                <a:ea typeface="Aptos"/>
                <a:cs typeface="Aptos"/>
              </a:rPr>
              <a:t>Bulut hedefi + iş numarası + sağlayıcı</a:t>
            </a:r>
          </a:p>
        </p:txBody>
      </p:sp>
      <p:sp>
        <p:nvSpPr>
          <p:cNvPr id="19" name="proof-shot-frame">
            <a:extLst xmlns:a="http://schemas.openxmlformats.org/drawingml/2006/main">
              <a:ext uri="{FF2B5EF4-FFF2-40B4-BE49-F238E27FC236}">
                <a16:creationId xmlns:a16="http://schemas.microsoft.com/office/drawing/2014/main" id="{45A508C4-4336-4312-8EB2-5A6F29F297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1952625"/>
            <a:ext cx="6457950" cy="4095750"/>
          </a:xfrm>
          <a:prstGeom xmlns:a="http://schemas.openxmlformats.org/drawingml/2006/main" prst="roundRect">
            <a:avLst>
              <a:gd name="adj" fmla="val 279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9E0EE"/>
            </a:solidFill>
            <a:prstDash val="solid"/>
          </a:ln>
        </p:spPr>
      </p:sp>
      <p:pic>
        <p:nvPicPr>
          <p:cNvPr id="4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d5c52bb25d74c41"/>
          <a:stretch xmlns:a="http://schemas.openxmlformats.org/drawingml/2006/main"/>
        </p:blipFill>
        <p:spPr>
          <a:xfrm xmlns:a="http://schemas.openxmlformats.org/drawingml/2006/main">
            <a:off x="5181600" y="2259211"/>
            <a:ext cx="6191250" cy="3482578"/>
          </a:xfrm>
          <a:prstGeom xmlns:a="http://schemas.openxmlformats.org/drawingml/2006/main" prst="roundRect">
            <a:avLst>
              <a:gd name="adj" fmla="val 2985"/>
            </a:avLst>
          </a:prstGeom>
        </p:spPr>
      </p:pic>
      <p:sp>
        <p:nvSpPr>
          <p:cNvPr id="21" name="page-6">
            <a:extLst xmlns:a="http://schemas.openxmlformats.org/drawingml/2006/main">
              <a:ext uri="{FF2B5EF4-FFF2-40B4-BE49-F238E27FC236}">
                <a16:creationId xmlns:a16="http://schemas.microsoft.com/office/drawing/2014/main" id="{1750D051-8549-4756-B8A3-92279DDB15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8B95AA"/>
                </a:solidFill>
                <a:latin typeface="Aptos"/>
                <a:ea typeface="Aptos"/>
                <a:cs typeface="Aptos"/>
              </a:defRPr>
            </a:pPr>
            <a:r>
              <a:rPr sz="825">
                <a:solidFill>
                  <a:srgbClr val="8B95AA"/>
                </a:solidFill>
                <a:latin typeface="Aptos"/>
                <a:ea typeface="Aptos"/>
                <a:cs typeface="Aptos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554621715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Google-Shape-532-p58-2">
            <a:extLst xmlns:a="http://schemas.openxmlformats.org/drawingml/2006/main">
              <a:ext uri="{FF2B5EF4-FFF2-40B4-BE49-F238E27FC236}">
                <a16:creationId xmlns:a16="http://schemas.microsoft.com/office/drawing/2014/main" id="{4A7A14BD-E7F4-4A6E-953A-5C6678C1E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b">
            <a:noAutofit/>
          </a:bodyPr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07</a:t>
            </a:r>
          </a:p>
        </p:txBody>
      </p:sp>
      <p:sp>
        <p:nvSpPr>
          <p:cNvPr id="2" name="Google-Shape-533-p58-3">
            <a:extLst xmlns:a="http://schemas.openxmlformats.org/drawingml/2006/main">
              <a:ext uri="{FF2B5EF4-FFF2-40B4-BE49-F238E27FC236}">
                <a16:creationId xmlns:a16="http://schemas.microsoft.com/office/drawing/2014/main" id="{191B7540-249A-4376-8591-99988DC09A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Aynı problem, dört farklı çözüm bakışı</a:t>
            </a:r>
          </a:p>
        </p:txBody>
      </p:sp>
      <p:sp>
        <p:nvSpPr>
          <p:cNvPr id="3" name="Rounded-Rectangle-6-4">
            <a:extLst xmlns:a="http://schemas.openxmlformats.org/drawingml/2006/main">
              <a:ext uri="{FF2B5EF4-FFF2-40B4-BE49-F238E27FC236}">
                <a16:creationId xmlns:a16="http://schemas.microsoft.com/office/drawing/2014/main" id="{041068AB-464A-48F6-B360-9DBCC116E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2369820"/>
            <a:ext cx="553393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4" name="Content-Placeholder-10-5">
            <a:extLst xmlns:a="http://schemas.openxmlformats.org/drawingml/2006/main">
              <a:ext uri="{FF2B5EF4-FFF2-40B4-BE49-F238E27FC236}">
                <a16:creationId xmlns:a16="http://schemas.microsoft.com/office/drawing/2014/main" id="{96CD91F1-BE66-440C-9D41-8631A0F4F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77" y="2664809"/>
            <a:ext cx="4986909" cy="10484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95547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Klasik hızlı yöntem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Simulated annealing ile büyük arama alanında hızlı yaklaşık rota arar.</a:t>
            </a:r>
          </a:p>
        </p:txBody>
      </p:sp>
      <p:sp>
        <p:nvSpPr>
          <p:cNvPr id="5" name="Rounded-Rectangle-8-6">
            <a:extLst xmlns:a="http://schemas.openxmlformats.org/drawingml/2006/main">
              <a:ext uri="{FF2B5EF4-FFF2-40B4-BE49-F238E27FC236}">
                <a16:creationId xmlns:a16="http://schemas.microsoft.com/office/drawing/2014/main" id="{40E84084-4470-4105-B54E-D7D03B47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04" y="2369820"/>
            <a:ext cx="553393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6" name="Content-Placeholder-10-7">
            <a:extLst xmlns:a="http://schemas.openxmlformats.org/drawingml/2006/main">
              <a:ext uri="{FF2B5EF4-FFF2-40B4-BE49-F238E27FC236}">
                <a16:creationId xmlns:a16="http://schemas.microsoft.com/office/drawing/2014/main" id="{E2FA8095-F4FF-4D94-85F3-927FC3A457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279" y="2664809"/>
            <a:ext cx="4986909" cy="10484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95547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Kesin kontrol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Küçük örneklerde tüm seçenekleri dener; kalite referansını verir.</a:t>
            </a:r>
          </a:p>
        </p:txBody>
      </p:sp>
      <p:sp>
        <p:nvSpPr>
          <p:cNvPr id="7" name="Rounded-Rectangle-1-8">
            <a:extLst xmlns:a="http://schemas.openxmlformats.org/drawingml/2006/main">
              <a:ext uri="{FF2B5EF4-FFF2-40B4-BE49-F238E27FC236}">
                <a16:creationId xmlns:a16="http://schemas.microsoft.com/office/drawing/2014/main" id="{FAB48AB1-C9C0-42C9-8A0E-48F28F6F5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4402" y="4370070"/>
            <a:ext cx="553393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8" name="Content-Placeholder-10-9">
            <a:extLst xmlns:a="http://schemas.openxmlformats.org/drawingml/2006/main">
              <a:ext uri="{FF2B5EF4-FFF2-40B4-BE49-F238E27FC236}">
                <a16:creationId xmlns:a16="http://schemas.microsoft.com/office/drawing/2014/main" id="{DB5EA3E3-5157-4F9C-B5B7-D52DEF34B6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1677" y="4665059"/>
            <a:ext cx="4986909" cy="10484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95547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Microsoft Q# devresi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Kapıları ölçer; yerel simülatör veya bağlı Azure Quantum hedefini kullanır.</a:t>
            </a:r>
          </a:p>
        </p:txBody>
      </p:sp>
      <p:sp>
        <p:nvSpPr>
          <p:cNvPr id="9" name="Rounded-Rectangle-3-10">
            <a:extLst xmlns:a="http://schemas.openxmlformats.org/drawingml/2006/main">
              <a:ext uri="{FF2B5EF4-FFF2-40B4-BE49-F238E27FC236}">
                <a16:creationId xmlns:a16="http://schemas.microsoft.com/office/drawing/2014/main" id="{1B82FEF4-8F1F-4E44-9F1D-97FCBDB87D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004" y="4370070"/>
            <a:ext cx="5533930" cy="1638300"/>
          </a:xfrm>
          <a:prstGeom xmlns:a="http://schemas.openxmlformats.org/drawingml/2006/main" prst="roundRect">
            <a:avLst>
              <a:gd name="adj" fmla="val 4651"/>
            </a:avLst>
          </a:prstGeom>
          <a:solidFill xmlns:a="http://schemas.openxmlformats.org/drawingml/2006/main">
            <a:srgbClr val="F2F2F2"/>
          </a:solidFill>
        </p:spPr>
      </p:sp>
      <p:sp>
        <p:nvSpPr>
          <p:cNvPr id="10" name="Content-Placeholder-10-11">
            <a:extLst xmlns:a="http://schemas.openxmlformats.org/drawingml/2006/main">
              <a:ext uri="{FF2B5EF4-FFF2-40B4-BE49-F238E27FC236}">
                <a16:creationId xmlns:a16="http://schemas.microsoft.com/office/drawing/2014/main" id="{E04A5810-DD31-4419-B23B-5B947383EB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279" y="4665059"/>
            <a:ext cx="4986909" cy="104841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95547"/>
          </a:bodyPr>
          <a:lstStyle xmlns:a="http://schemas.openxmlformats.org/drawingml/2006/main"/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Kuantum modeli</a:t>
            </a:r>
          </a:p>
          <a:p xmlns:a="http://schemas.openxmlformats.org/drawingml/2006/main">
            <a:pPr algn="l">
              <a:defRPr sz="24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Uygun rota uzayında QAOA-benzeri faz ve karıştırıcı simülasyonu çalıştırır.</a:t>
            </a:r>
          </a:p>
        </p:txBody>
      </p:sp>
      <p:sp>
        <p:nvSpPr>
          <p:cNvPr id="11" name="Content-Placeholder-15-12">
            <a:extLst xmlns:a="http://schemas.openxmlformats.org/drawingml/2006/main">
              <a:ext uri="{FF2B5EF4-FFF2-40B4-BE49-F238E27FC236}">
                <a16:creationId xmlns:a16="http://schemas.microsoft.com/office/drawing/2014/main" id="{75310FF5-B5AA-45D4-9951-9D3023ADA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907" y="1057466"/>
            <a:ext cx="11404568" cy="101222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Adil kıyaslama</a:t>
            </a:r>
          </a:p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Her motor aynı şehirleri, aynı hedefi ve aynı ölçüm tablosunu kullanır.</a:t>
            </a:r>
          </a:p>
        </p:txBody>
      </p:sp>
      <p:sp>
        <p:nvSpPr>
          <p:cNvPr id="12" name="engine-accent-0">
            <a:extLst xmlns:a="http://schemas.openxmlformats.org/drawingml/2006/main">
              <a:ext uri="{FF2B5EF4-FFF2-40B4-BE49-F238E27FC236}">
                <a16:creationId xmlns:a16="http://schemas.microsoft.com/office/drawing/2014/main" id="{4FD571CF-CED8-4633-9726-4584F35F49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829" y="2541270"/>
            <a:ext cx="76200" cy="1295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A1020"/>
          </a:solidFill>
          <a:ln xmlns:a="http://schemas.openxmlformats.org/drawingml/2006/main" w="9525">
            <a:solidFill>
              <a:srgbClr val="0A1020"/>
            </a:solidFill>
            <a:prstDash val="solid"/>
          </a:ln>
        </p:spPr>
      </p:sp>
      <p:sp>
        <p:nvSpPr>
          <p:cNvPr id="13" name="engine-accent-1">
            <a:extLst xmlns:a="http://schemas.openxmlformats.org/drawingml/2006/main">
              <a:ext uri="{FF2B5EF4-FFF2-40B4-BE49-F238E27FC236}">
                <a16:creationId xmlns:a16="http://schemas.microsoft.com/office/drawing/2014/main" id="{6C39D95C-4403-4D76-9DB1-0427C89C8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8227" y="2541270"/>
            <a:ext cx="76200" cy="1295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59E0B"/>
          </a:solidFill>
          <a:ln xmlns:a="http://schemas.openxmlformats.org/drawingml/2006/main" w="9525">
            <a:solidFill>
              <a:srgbClr val="F59E0B"/>
            </a:solidFill>
            <a:prstDash val="solid"/>
          </a:ln>
        </p:spPr>
      </p:sp>
      <p:sp>
        <p:nvSpPr>
          <p:cNvPr id="14" name="engine-accent-2">
            <a:extLst xmlns:a="http://schemas.openxmlformats.org/drawingml/2006/main">
              <a:ext uri="{FF2B5EF4-FFF2-40B4-BE49-F238E27FC236}">
                <a16:creationId xmlns:a16="http://schemas.microsoft.com/office/drawing/2014/main" id="{DBA5B4FF-A6D5-4CCA-B649-32DC053F4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2829" y="4541520"/>
            <a:ext cx="76200" cy="1295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6BDEB"/>
          </a:solidFill>
          <a:ln xmlns:a="http://schemas.openxmlformats.org/drawingml/2006/main" w="9525">
            <a:solidFill>
              <a:srgbClr val="16BDEB"/>
            </a:solidFill>
            <a:prstDash val="solid"/>
          </a:ln>
        </p:spPr>
      </p:sp>
      <p:sp>
        <p:nvSpPr>
          <p:cNvPr id="15" name="engine-accent-3">
            <a:extLst xmlns:a="http://schemas.openxmlformats.org/drawingml/2006/main">
              <a:ext uri="{FF2B5EF4-FFF2-40B4-BE49-F238E27FC236}">
                <a16:creationId xmlns:a16="http://schemas.microsoft.com/office/drawing/2014/main" id="{1C283F96-0EE3-4419-A062-4EA695E17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8227" y="4541520"/>
            <a:ext cx="76200" cy="1295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6658F6"/>
          </a:solidFill>
          <a:ln xmlns:a="http://schemas.openxmlformats.org/drawingml/2006/main" w="9525">
            <a:solidFill>
              <a:srgbClr val="6658F6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6388166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Değer-eyebrow">
            <a:extLst xmlns:a="http://schemas.openxmlformats.org/drawingml/2006/main">
              <a:ext uri="{FF2B5EF4-FFF2-40B4-BE49-F238E27FC236}">
                <a16:creationId xmlns:a16="http://schemas.microsoft.com/office/drawing/2014/main" id="{D28A596F-79A6-4601-B834-9487BC5B5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"/>
            <a:ext cx="7239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658F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58F6"/>
                </a:solidFill>
                <a:latin typeface="Aptos"/>
                <a:ea typeface="Aptos"/>
                <a:cs typeface="Aptos"/>
              </a:rPr>
              <a:t>DEĞER</a:t>
            </a:r>
          </a:p>
        </p:txBody>
      </p:sp>
      <p:sp>
        <p:nvSpPr>
          <p:cNvPr id="2" name="Değer-title">
            <a:extLst xmlns:a="http://schemas.openxmlformats.org/drawingml/2006/main">
              <a:ext uri="{FF2B5EF4-FFF2-40B4-BE49-F238E27FC236}">
                <a16:creationId xmlns:a16="http://schemas.microsoft.com/office/drawing/2014/main" id="{2F98CF2B-9ED4-4821-A0DB-A6CAB2470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23900"/>
            <a:ext cx="106680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925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2925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Bu proje neden sıradan bir rota sitesinden farklı?</a:t>
            </a:r>
          </a:p>
        </p:txBody>
      </p:sp>
      <p:sp>
        <p:nvSpPr>
          <p:cNvPr id="3" name="Değer-subtitle">
            <a:extLst xmlns:a="http://schemas.openxmlformats.org/drawingml/2006/main">
              <a:ext uri="{FF2B5EF4-FFF2-40B4-BE49-F238E27FC236}">
                <a16:creationId xmlns:a16="http://schemas.microsoft.com/office/drawing/2014/main" id="{21040553-F78D-44E1-8AFB-D97680E77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90650"/>
            <a:ext cx="10287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59657D"/>
                </a:solidFill>
                <a:latin typeface="Aptos"/>
                <a:ea typeface="Aptos"/>
                <a:cs typeface="Aptos"/>
              </a:rPr>
              <a:t>Navigasyon hedef değil; kuantum optimizasyonunu anlaşılır, ölçülebilir ve tekrar çalıştırılabilir hale getirmek hedef.</a:t>
            </a:r>
          </a:p>
        </p:txBody>
      </p:sp>
      <p:sp>
        <p:nvSpPr>
          <p:cNvPr id="4" name="not-nav">
            <a:extLst xmlns:a="http://schemas.openxmlformats.org/drawingml/2006/main">
              <a:ext uri="{FF2B5EF4-FFF2-40B4-BE49-F238E27FC236}">
                <a16:creationId xmlns:a16="http://schemas.microsoft.com/office/drawing/2014/main" id="{040DC827-59BF-4CB1-B376-ADAF058F4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190750"/>
            <a:ext cx="49720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FFF5F6"/>
          </a:solidFill>
          <a:ln xmlns:a="http://schemas.openxmlformats.org/drawingml/2006/main" w="9525">
            <a:solidFill>
              <a:srgbClr val="F7BCC3"/>
            </a:solidFill>
            <a:prstDash val="solid"/>
          </a:ln>
        </p:spPr>
      </p:sp>
      <p:sp>
        <p:nvSpPr>
          <p:cNvPr id="5" name="not-nav-kicker">
            <a:extLst xmlns:a="http://schemas.openxmlformats.org/drawingml/2006/main">
              <a:ext uri="{FF2B5EF4-FFF2-40B4-BE49-F238E27FC236}">
                <a16:creationId xmlns:a16="http://schemas.microsoft.com/office/drawing/2014/main" id="{89B95DCA-5DB2-449F-838D-CE19E918E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505075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E95363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E95363"/>
                </a:solidFill>
                <a:latin typeface="Aptos"/>
                <a:ea typeface="Aptos"/>
                <a:cs typeface="Aptos"/>
              </a:rPr>
              <a:t>KLASİK ROTA SİTESİ</a:t>
            </a:r>
          </a:p>
        </p:txBody>
      </p:sp>
      <p:sp>
        <p:nvSpPr>
          <p:cNvPr id="6" name="not-nav-title">
            <a:extLst xmlns:a="http://schemas.openxmlformats.org/drawingml/2006/main">
              <a:ext uri="{FF2B5EF4-FFF2-40B4-BE49-F238E27FC236}">
                <a16:creationId xmlns:a16="http://schemas.microsoft.com/office/drawing/2014/main" id="{14181DBC-D92C-45A1-BB2E-EFA755EF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52750"/>
            <a:ext cx="41719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“A’dan B’ye nasıl giderim?”</a:t>
            </a:r>
          </a:p>
        </p:txBody>
      </p:sp>
      <p:sp>
        <p:nvSpPr>
          <p:cNvPr id="7" name="not-nav-body">
            <a:extLst xmlns:a="http://schemas.openxmlformats.org/drawingml/2006/main">
              <a:ext uri="{FF2B5EF4-FFF2-40B4-BE49-F238E27FC236}">
                <a16:creationId xmlns:a16="http://schemas.microsoft.com/office/drawing/2014/main" id="{C84A44EB-5886-43F4-9EE8-06BAA7744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762375"/>
            <a:ext cx="3714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59657D"/>
                </a:solidFill>
                <a:latin typeface="Aptos"/>
                <a:ea typeface="Aptos"/>
                <a:cs typeface="Aptos"/>
              </a:rPr>
              <a:t>• Trafik ve yol tarifi</a:t>
            </a:r>
          </a:p>
          <a:p xmlns:a="http://schemas.openxmlformats.org/drawingml/2006/main">
            <a:pPr>
              <a:defRPr sz="1500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59657D"/>
                </a:solidFill>
                <a:latin typeface="Aptos"/>
                <a:ea typeface="Aptos"/>
                <a:cs typeface="Aptos"/>
              </a:rPr>
              <a:t>• Tek sonuç odaklı</a:t>
            </a:r>
          </a:p>
          <a:p xmlns:a="http://schemas.openxmlformats.org/drawingml/2006/main">
            <a:pPr>
              <a:defRPr sz="1500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59657D"/>
                </a:solidFill>
                <a:latin typeface="Aptos"/>
                <a:ea typeface="Aptos"/>
                <a:cs typeface="Aptos"/>
              </a:rPr>
              <a:t>• Algoritma görünmez</a:t>
            </a:r>
          </a:p>
        </p:txBody>
      </p:sp>
      <p:sp>
        <p:nvSpPr>
          <p:cNvPr id="8" name="is-lab">
            <a:extLst xmlns:a="http://schemas.openxmlformats.org/drawingml/2006/main">
              <a:ext uri="{FF2B5EF4-FFF2-40B4-BE49-F238E27FC236}">
                <a16:creationId xmlns:a16="http://schemas.microsoft.com/office/drawing/2014/main" id="{BF5D00FA-1576-4616-A239-C7948E0D70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2190750"/>
            <a:ext cx="5467350" cy="3143250"/>
          </a:xfrm>
          <a:prstGeom xmlns:a="http://schemas.openxmlformats.org/drawingml/2006/main" prst="roundRect">
            <a:avLst>
              <a:gd name="adj" fmla="val 3636"/>
            </a:avLst>
          </a:prstGeom>
          <a:solidFill xmlns:a="http://schemas.openxmlformats.org/drawingml/2006/main">
            <a:srgbClr val="EFEEFF"/>
          </a:solidFill>
          <a:ln xmlns:a="http://schemas.openxmlformats.org/drawingml/2006/main" w="9525">
            <a:solidFill>
              <a:srgbClr val="BBB3FF"/>
            </a:solidFill>
            <a:prstDash val="solid"/>
          </a:ln>
        </p:spPr>
      </p:sp>
      <p:sp>
        <p:nvSpPr>
          <p:cNvPr id="9" name="is-lab-kicker">
            <a:extLst xmlns:a="http://schemas.openxmlformats.org/drawingml/2006/main">
              <a:ext uri="{FF2B5EF4-FFF2-40B4-BE49-F238E27FC236}">
                <a16:creationId xmlns:a16="http://schemas.microsoft.com/office/drawing/2014/main" id="{6E835C23-F211-4D22-BB49-B7423781AF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05075"/>
            <a:ext cx="266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6658F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6658F6"/>
                </a:solidFill>
                <a:latin typeface="Aptos"/>
                <a:ea typeface="Aptos"/>
                <a:cs typeface="Aptos"/>
              </a:rPr>
              <a:t>QUANTUM ROUTE LAB</a:t>
            </a:r>
          </a:p>
        </p:txBody>
      </p:sp>
      <p:sp>
        <p:nvSpPr>
          <p:cNvPr id="10" name="is-lab-title">
            <a:extLst xmlns:a="http://schemas.openxmlformats.org/drawingml/2006/main">
              <a:ext uri="{FF2B5EF4-FFF2-40B4-BE49-F238E27FC236}">
                <a16:creationId xmlns:a16="http://schemas.microsoft.com/office/drawing/2014/main" id="{4C8CFF64-B930-46DC-A0BE-86D825E17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476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2250" b="1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2250" b="1">
                <a:solidFill>
                  <a:srgbClr val="0A1020"/>
                </a:solidFill>
                <a:latin typeface="Aptos"/>
                <a:ea typeface="Aptos"/>
                <a:cs typeface="Aptos"/>
              </a:rPr>
              <a:t>“Hangi yöntem neden daha iyi?”</a:t>
            </a:r>
          </a:p>
        </p:txBody>
      </p:sp>
      <p:sp>
        <p:nvSpPr>
          <p:cNvPr id="11" name="is-lab-body">
            <a:extLst xmlns:a="http://schemas.openxmlformats.org/drawingml/2006/main">
              <a:ext uri="{FF2B5EF4-FFF2-40B4-BE49-F238E27FC236}">
                <a16:creationId xmlns:a16="http://schemas.microsoft.com/office/drawing/2014/main" id="{E1F5955C-672B-4223-A63C-B8DC5F93A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62375"/>
            <a:ext cx="42862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500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59657D"/>
                </a:solidFill>
                <a:latin typeface="Aptos"/>
                <a:ea typeface="Aptos"/>
                <a:cs typeface="Aptos"/>
              </a:rPr>
              <a:t>• Klasik × kuantum benchmark</a:t>
            </a:r>
          </a:p>
          <a:p xmlns:a="http://schemas.openxmlformats.org/drawingml/2006/main">
            <a:pPr>
              <a:defRPr sz="1500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59657D"/>
                </a:solidFill>
                <a:latin typeface="Aptos"/>
                <a:ea typeface="Aptos"/>
                <a:cs typeface="Aptos"/>
              </a:rPr>
              <a:t>• Doğal dille problem girişi</a:t>
            </a:r>
          </a:p>
          <a:p xmlns:a="http://schemas.openxmlformats.org/drawingml/2006/main">
            <a:pPr>
              <a:defRPr sz="1500">
                <a:solidFill>
                  <a:srgbClr val="59657D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59657D"/>
                </a:solidFill>
                <a:latin typeface="Aptos"/>
                <a:ea typeface="Aptos"/>
                <a:cs typeface="Aptos"/>
              </a:rPr>
              <a:t>• Devre, ölçüm ve Azure kanıtı</a:t>
            </a:r>
          </a:p>
        </p:txBody>
      </p:sp>
      <p:sp>
        <p:nvSpPr>
          <p:cNvPr id="12" name="users">
            <a:extLst xmlns:a="http://schemas.openxmlformats.org/drawingml/2006/main">
              <a:ext uri="{FF2B5EF4-FFF2-40B4-BE49-F238E27FC236}">
                <a16:creationId xmlns:a16="http://schemas.microsoft.com/office/drawing/2014/main" id="{83D7567A-33F1-4C5F-B0E8-B9DFA3255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734050"/>
            <a:ext cx="9334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1">
                <a:solidFill>
                  <a:srgbClr val="6658F6"/>
                </a:solidFill>
                <a:latin typeface="Aptos"/>
                <a:ea typeface="Aptos"/>
                <a:cs typeface="Aptos"/>
              </a:defRPr>
            </a:pPr>
            <a:r>
              <a:rPr sz="1350" b="1">
                <a:solidFill>
                  <a:srgbClr val="6658F6"/>
                </a:solidFill>
                <a:latin typeface="Aptos"/>
                <a:ea typeface="Aptos"/>
                <a:cs typeface="Aptos"/>
              </a:rPr>
              <a:t>Kullanıcılar: öğrenciler · geliştiriciler · Ar-Ge ekipleri · optimizasyon eğitmenleri</a:t>
            </a:r>
          </a:p>
        </p:txBody>
      </p:sp>
      <p:sp>
        <p:nvSpPr>
          <p:cNvPr id="13" name="page-8">
            <a:extLst xmlns:a="http://schemas.openxmlformats.org/drawingml/2006/main">
              <a:ext uri="{FF2B5EF4-FFF2-40B4-BE49-F238E27FC236}">
                <a16:creationId xmlns:a16="http://schemas.microsoft.com/office/drawing/2014/main" id="{8576BB29-B3F8-4094-BC79-59A966F90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8B95AA"/>
                </a:solidFill>
                <a:latin typeface="Aptos"/>
                <a:ea typeface="Aptos"/>
                <a:cs typeface="Aptos"/>
              </a:defRPr>
            </a:pPr>
            <a:r>
              <a:rPr sz="825">
                <a:solidFill>
                  <a:srgbClr val="8B95AA"/>
                </a:solidFill>
                <a:latin typeface="Aptos"/>
                <a:ea typeface="Aptos"/>
                <a:cs typeface="Aptos"/>
              </a:rPr>
              <a:t>08</a:t>
            </a:r>
          </a:p>
        </p:txBody>
      </p:sp>
    </p:spTree>
    <p:extLst>
      <p:ext uri="{BB962C8B-B14F-4D97-AF65-F5344CB8AC3E}">
        <p14:creationId xmlns:p14="http://schemas.microsoft.com/office/powerpoint/2010/main" val="207755810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8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Slide-Number-Placeholder-3-2">
            <a:extLst xmlns:a="http://schemas.openxmlformats.org/drawingml/2006/main">
              <a:ext uri="{FF2B5EF4-FFF2-40B4-BE49-F238E27FC236}">
                <a16:creationId xmlns:a16="http://schemas.microsoft.com/office/drawing/2014/main" id="{2BC505CA-A839-4730-A30F-2FE11E16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79315" y="6279261"/>
            <a:ext cx="518922" cy="24126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b"/>
          <a:lstStyle xmlns:a="http://schemas.openxmlformats.org/drawingml/2006/main"/>
          <a:p xmlns:a="http://schemas.openxmlformats.org/drawingml/2006/main">
            <a:pPr algn="r">
              <a:defRPr sz="10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09</a:t>
            </a:r>
          </a:p>
        </p:txBody>
      </p:sp>
      <p:sp>
        <p:nvSpPr>
          <p:cNvPr id="2" name="Title-10-3">
            <a:extLst xmlns:a="http://schemas.openxmlformats.org/drawingml/2006/main">
              <a:ext uri="{FF2B5EF4-FFF2-40B4-BE49-F238E27FC236}">
                <a16:creationId xmlns:a16="http://schemas.microsoft.com/office/drawing/2014/main" id="{02C30447-6819-4F3E-8D99-32F3E9447A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344043"/>
            <a:ext cx="11404568" cy="104746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9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Doğal dil bugün; daha geniş NP-zor problem ailesi sırada</a:t>
            </a:r>
          </a:p>
        </p:txBody>
      </p:sp>
      <p:cxnSp>
        <p:nvCxnSpPr>
          <p:cNvPr id="19" name="Google-Shape-2259-p159-4"/>
          <p:cNvCxnSpPr/>
          <p:nvPr/>
        </p:nvCxnSpPr>
        <p:spPr>
          <a:xfrm xmlns:a="http://schemas.openxmlformats.org/drawingml/2006/main">
            <a:off x="337757" y="3373755"/>
            <a:ext cx="11430000" cy="286"/>
          </a:xfrm>
          <a:prstGeom xmlns:a="http://schemas.openxmlformats.org/drawingml/2006/main" prst="straightConnector1">
            <a:avLst/>
          </a:prstGeom>
          <a:ln xmlns:a="http://schemas.openxmlformats.org/drawingml/2006/main" w="9525">
            <a:solidFill>
              <a:srgbClr val="000000"/>
            </a:solidFill>
            <a:prstDash val="solid"/>
          </a:ln>
        </p:spPr>
      </p:cxnSp>
      <p:sp>
        <p:nvSpPr>
          <p:cNvPr id="4" name="Google-Shape-2260-p159-5">
            <a:extLst xmlns:a="http://schemas.openxmlformats.org/drawingml/2006/main">
              <a:ext uri="{FF2B5EF4-FFF2-40B4-BE49-F238E27FC236}">
                <a16:creationId xmlns:a16="http://schemas.microsoft.com/office/drawing/2014/main" id="{84F29173-6551-426B-8FB2-CD577ED91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757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5" name="Google-Shape-2261-p159-6">
            <a:extLst xmlns:a="http://schemas.openxmlformats.org/drawingml/2006/main">
              <a:ext uri="{FF2B5EF4-FFF2-40B4-BE49-F238E27FC236}">
                <a16:creationId xmlns:a16="http://schemas.microsoft.com/office/drawing/2014/main" id="{C6981F13-7F97-40E3-8804-4B9C418A5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17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6" name="Google-Shape-2262-p159-7">
            <a:extLst xmlns:a="http://schemas.openxmlformats.org/drawingml/2006/main">
              <a:ext uri="{FF2B5EF4-FFF2-40B4-BE49-F238E27FC236}">
                <a16:creationId xmlns:a16="http://schemas.microsoft.com/office/drawing/2014/main" id="{1D1E8664-04C5-495B-85BE-0BB30F048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6070" y="3320225"/>
            <a:ext cx="107061" cy="107061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0000"/>
          </a:solidFill>
        </p:spPr>
      </p:sp>
      <p:sp>
        <p:nvSpPr>
          <p:cNvPr id="7" name="Content-Placeholder-15-8">
            <a:extLst xmlns:a="http://schemas.openxmlformats.org/drawingml/2006/main">
              <a:ext uri="{FF2B5EF4-FFF2-40B4-BE49-F238E27FC236}">
                <a16:creationId xmlns:a16="http://schemas.microsoft.com/office/drawing/2014/main" id="{C895FA2A-9675-47CB-8CAC-DB86E9F6B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366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BUGÜN</a:t>
            </a:r>
          </a:p>
        </p:txBody>
      </p:sp>
      <p:sp>
        <p:nvSpPr>
          <p:cNvPr id="8" name="Content-Placeholder-15-9">
            <a:extLst xmlns:a="http://schemas.openxmlformats.org/drawingml/2006/main">
              <a:ext uri="{FF2B5EF4-FFF2-40B4-BE49-F238E27FC236}">
                <a16:creationId xmlns:a16="http://schemas.microsoft.com/office/drawing/2014/main" id="{9E6DC067-0339-4756-972E-A3637458B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4156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SONRAKİ SÜRÜM</a:t>
            </a:r>
          </a:p>
        </p:txBody>
      </p:sp>
      <p:sp>
        <p:nvSpPr>
          <p:cNvPr id="9" name="Content-Placeholder-15-10">
            <a:extLst xmlns:a="http://schemas.openxmlformats.org/drawingml/2006/main">
              <a:ext uri="{FF2B5EF4-FFF2-40B4-BE49-F238E27FC236}">
                <a16:creationId xmlns:a16="http://schemas.microsoft.com/office/drawing/2014/main" id="{DAE33F58-B8BD-4099-A128-B9DDCA48B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3218" y="2843308"/>
            <a:ext cx="1612868" cy="262414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/>
          <a:p xmlns:a="http://schemas.openxmlformats.org/drawingml/2006/main">
            <a:pPr algn="l">
              <a:defRPr sz="1600">
                <a:solidFill>
                  <a:srgbClr val="000000"/>
                </a:solidFill>
                <a:latin typeface="Helvetica Neue"/>
                <a:ea typeface="Helvetica Neue"/>
                <a:cs typeface="Helvetica Neue"/>
              </a:defRPr>
            </a:pPr>
            <a:r>
              <a:t>ÜRÜNLEŞME</a:t>
            </a:r>
          </a:p>
        </p:txBody>
      </p:sp>
      <p:sp>
        <p:nvSpPr>
          <p:cNvPr id="10" name="Text-Placeholder-16-11">
            <a:extLst xmlns:a="http://schemas.openxmlformats.org/drawingml/2006/main">
              <a:ext uri="{FF2B5EF4-FFF2-40B4-BE49-F238E27FC236}">
                <a16:creationId xmlns:a16="http://schemas.microsoft.com/office/drawing/2014/main" id="{36D88DAC-95B1-4CFD-9C5A-4220D4DF08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7111" y="3822668"/>
            <a:ext cx="3156109" cy="1809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0A1020"/>
                </a:solidFill>
                <a:latin typeface="Aptos"/>
                <a:ea typeface="Aptos"/>
                <a:cs typeface="Aptos"/>
              </a:rPr>
              <a:t>Max-Cut · Çanta · Çizelgeleme</a:t>
            </a:r>
          </a:p>
          <a:p xmlns:a="http://schemas.openxmlformats.org/drawingml/2006/main">
            <a:pPr algn="l">
              <a:defRPr sz="150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0A1020"/>
                </a:solidFill>
                <a:latin typeface="Aptos"/>
                <a:ea typeface="Aptos"/>
                <a:cs typeface="Aptos"/>
              </a:rPr>
              <a:t>Ortak QUBO katmanı ile yeni optimizasyon türleri eklenir.</a:t>
            </a:r>
          </a:p>
        </p:txBody>
      </p:sp>
      <p:sp>
        <p:nvSpPr>
          <p:cNvPr id="11" name="Text-Placeholder-16-12">
            <a:extLst xmlns:a="http://schemas.openxmlformats.org/drawingml/2006/main">
              <a:ext uri="{FF2B5EF4-FFF2-40B4-BE49-F238E27FC236}">
                <a16:creationId xmlns:a16="http://schemas.microsoft.com/office/drawing/2014/main" id="{05BCDA66-7706-4C57-BDEC-7BF3BE3373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9859" y="3822668"/>
            <a:ext cx="3156109" cy="1809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0A1020"/>
                </a:solidFill>
                <a:latin typeface="Aptos"/>
                <a:ea typeface="Aptos"/>
                <a:cs typeface="Aptos"/>
              </a:rPr>
              <a:t>Türkçe rota problemi</a:t>
            </a:r>
          </a:p>
          <a:p xmlns:a="http://schemas.openxmlformats.org/drawingml/2006/main">
            <a:pPr algn="l">
              <a:defRPr sz="150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0A1020"/>
                </a:solidFill>
                <a:latin typeface="Aptos"/>
                <a:ea typeface="Aptos"/>
                <a:cs typeface="Aptos"/>
              </a:rPr>
              <a:t>Cümleden şehirleri çıkarır; TSP karşılaştırmasını otomatik başlatır.</a:t>
            </a:r>
          </a:p>
        </p:txBody>
      </p:sp>
      <p:sp>
        <p:nvSpPr>
          <p:cNvPr id="12" name="Text-Placeholder-16-13">
            <a:extLst xmlns:a="http://schemas.openxmlformats.org/drawingml/2006/main">
              <a:ext uri="{FF2B5EF4-FFF2-40B4-BE49-F238E27FC236}">
                <a16:creationId xmlns:a16="http://schemas.microsoft.com/office/drawing/2014/main" id="{846B6A1A-383E-427D-A88E-44E692BD6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7879" y="3822668"/>
            <a:ext cx="3156109" cy="180975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0A1020"/>
                </a:solidFill>
                <a:latin typeface="Aptos"/>
                <a:ea typeface="Aptos"/>
                <a:cs typeface="Aptos"/>
              </a:rPr>
              <a:t>Gerçek kısıtlar + Azure hedefleri</a:t>
            </a:r>
          </a:p>
          <a:p xmlns:a="http://schemas.openxmlformats.org/drawingml/2006/main">
            <a:pPr algn="l">
              <a:defRPr sz="1500">
                <a:solidFill>
                  <a:srgbClr val="0A1020"/>
                </a:solidFill>
                <a:latin typeface="Aptos"/>
                <a:ea typeface="Aptos"/>
                <a:cs typeface="Aptos"/>
              </a:defRPr>
            </a:pPr>
            <a:r>
              <a:rPr sz="1500">
                <a:solidFill>
                  <a:srgbClr val="0A1020"/>
                </a:solidFill>
                <a:latin typeface="Aptos"/>
                <a:ea typeface="Aptos"/>
                <a:cs typeface="Aptos"/>
              </a:rPr>
              <a:t>Maliyet, kapasite, zaman penceresi ve donanım benchmark’ı.</a:t>
            </a:r>
          </a:p>
        </p:txBody>
      </p:sp>
      <p:sp>
        <p:nvSpPr>
          <p:cNvPr id="13" name="tag-NL → problem modeli">
            <a:extLst xmlns:a="http://schemas.openxmlformats.org/drawingml/2006/main">
              <a:ext uri="{FF2B5EF4-FFF2-40B4-BE49-F238E27FC236}">
                <a16:creationId xmlns:a16="http://schemas.microsoft.com/office/drawing/2014/main" id="{ACAEFD75-E80B-4F38-9DBC-1A7CD9B1D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809750"/>
            <a:ext cx="200025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8F8FD"/>
          </a:solidFill>
          <a:ln xmlns:a="http://schemas.openxmlformats.org/drawingml/2006/main" w="9525">
            <a:solidFill>
              <a:srgbClr val="E8F8FD"/>
            </a:solidFill>
            <a:prstDash val="solid"/>
          </a:ln>
        </p:spPr>
      </p:sp>
      <p:sp>
        <p:nvSpPr>
          <p:cNvPr id="14" name="tag-text-NL → problem modeli">
            <a:extLst xmlns:a="http://schemas.openxmlformats.org/drawingml/2006/main">
              <a:ext uri="{FF2B5EF4-FFF2-40B4-BE49-F238E27FC236}">
                <a16:creationId xmlns:a16="http://schemas.microsoft.com/office/drawing/2014/main" id="{FB5AAB3A-C61D-4920-A390-569E1D6D0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876425"/>
            <a:ext cx="17716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087E9E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087E9E"/>
                </a:solidFill>
                <a:latin typeface="Aptos"/>
                <a:ea typeface="Aptos"/>
                <a:cs typeface="Aptos"/>
              </a:rPr>
              <a:t>NL → problem modeli</a:t>
            </a:r>
          </a:p>
        </p:txBody>
      </p:sp>
      <p:sp>
        <p:nvSpPr>
          <p:cNvPr id="15" name="tag-NP-zor problem galerisi">
            <a:extLst xmlns:a="http://schemas.openxmlformats.org/drawingml/2006/main">
              <a:ext uri="{FF2B5EF4-FFF2-40B4-BE49-F238E27FC236}">
                <a16:creationId xmlns:a16="http://schemas.microsoft.com/office/drawing/2014/main" id="{BA35A5C1-EDF6-4F10-B27F-92FDA94A3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1809750"/>
            <a:ext cx="2209800" cy="3238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CEAFF"/>
          </a:solidFill>
          <a:ln xmlns:a="http://schemas.openxmlformats.org/drawingml/2006/main" w="9525">
            <a:solidFill>
              <a:srgbClr val="ECEAFF"/>
            </a:solidFill>
            <a:prstDash val="solid"/>
          </a:ln>
        </p:spPr>
      </p:sp>
      <p:sp>
        <p:nvSpPr>
          <p:cNvPr id="16" name="tag-text-NP-zor problem galerisi">
            <a:extLst xmlns:a="http://schemas.openxmlformats.org/drawingml/2006/main">
              <a:ext uri="{FF2B5EF4-FFF2-40B4-BE49-F238E27FC236}">
                <a16:creationId xmlns:a16="http://schemas.microsoft.com/office/drawing/2014/main" id="{8C071B94-AA98-4989-80F6-7CA57200A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28950" y="1876425"/>
            <a:ext cx="19812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 algn="ctr">
              <a:defRPr sz="900" b="1">
                <a:solidFill>
                  <a:srgbClr val="6658F6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6658F6"/>
                </a:solidFill>
                <a:latin typeface="Aptos"/>
                <a:ea typeface="Aptos"/>
                <a:cs typeface="Aptos"/>
              </a:rPr>
              <a:t>NP-zor problem galerisi</a:t>
            </a:r>
          </a:p>
        </p:txBody>
      </p:sp>
    </p:spTree>
    <p:extLst>
      <p:ext uri="{BB962C8B-B14F-4D97-AF65-F5344CB8AC3E}">
        <p14:creationId xmlns:p14="http://schemas.microsoft.com/office/powerpoint/2010/main" val="1397591362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071426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close-kicker">
            <a:extLst xmlns:a="http://schemas.openxmlformats.org/drawingml/2006/main">
              <a:ext uri="{FF2B5EF4-FFF2-40B4-BE49-F238E27FC236}">
                <a16:creationId xmlns:a16="http://schemas.microsoft.com/office/drawing/2014/main" id="{02B07BFE-97DF-469D-A174-B83DDA8EB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7700"/>
            <a:ext cx="2476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2308"/>
          </a:bodyPr>
          <a:lstStyle xmlns:a="http://schemas.openxmlformats.org/drawingml/2006/main"/>
          <a:p xmlns:a="http://schemas.openxmlformats.org/drawingml/2006/main">
            <a:pPr>
              <a:defRPr sz="975" b="1">
                <a:solidFill>
                  <a:srgbClr val="16BDEB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16BDEB"/>
                </a:solidFill>
                <a:latin typeface="Aptos"/>
                <a:ea typeface="Aptos"/>
                <a:cs typeface="Aptos"/>
              </a:rPr>
              <a:t>KAPANIŞ</a:t>
            </a:r>
          </a:p>
        </p:txBody>
      </p:sp>
      <p:sp>
        <p:nvSpPr>
          <p:cNvPr id="2" name="close-title">
            <a:extLst xmlns:a="http://schemas.openxmlformats.org/drawingml/2006/main">
              <a:ext uri="{FF2B5EF4-FFF2-40B4-BE49-F238E27FC236}">
                <a16:creationId xmlns:a16="http://schemas.microsoft.com/office/drawing/2014/main" id="{BAC06B30-5822-438E-A85E-E1B04D694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181100"/>
            <a:ext cx="895350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36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36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Kuantumu vaat olmaktan çıkarıp ölçülebilir bir deneye dönüştürüyoruz.</a:t>
            </a:r>
          </a:p>
        </p:txBody>
      </p:sp>
      <p:sp>
        <p:nvSpPr>
          <p:cNvPr id="3" name="close-sub">
            <a:extLst xmlns:a="http://schemas.openxmlformats.org/drawingml/2006/main">
              <a:ext uri="{FF2B5EF4-FFF2-40B4-BE49-F238E27FC236}">
                <a16:creationId xmlns:a16="http://schemas.microsoft.com/office/drawing/2014/main" id="{61FA5D95-1DE6-444F-9134-B83CC727F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9334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800">
                <a:solidFill>
                  <a:srgbClr val="B7C6DA"/>
                </a:solidFill>
                <a:latin typeface="Aptos"/>
                <a:ea typeface="Aptos"/>
                <a:cs typeface="Aptos"/>
              </a:defRPr>
            </a:pPr>
            <a:r>
              <a:rPr sz="1800">
                <a:solidFill>
                  <a:srgbClr val="B7C6DA"/>
                </a:solidFill>
                <a:latin typeface="Aptos"/>
                <a:ea typeface="Aptos"/>
                <a:cs typeface="Aptos"/>
              </a:rPr>
              <a:t>Doğal dil → hibrit çözüm → kuantum kanıtı → dürüst karşılaştırma</a:t>
            </a:r>
          </a:p>
        </p:txBody>
      </p:sp>
      <p:sp>
        <p:nvSpPr>
          <p:cNvPr id="4" name="github-box">
            <a:extLst xmlns:a="http://schemas.openxmlformats.org/drawingml/2006/main">
              <a:ext uri="{FF2B5EF4-FFF2-40B4-BE49-F238E27FC236}">
                <a16:creationId xmlns:a16="http://schemas.microsoft.com/office/drawing/2014/main" id="{EADE8ACF-14C4-4344-B6C5-CECFD4DEA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000500"/>
            <a:ext cx="49530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0E2542"/>
          </a:solidFill>
          <a:ln xmlns:a="http://schemas.openxmlformats.org/drawingml/2006/main" w="9525">
            <a:solidFill>
              <a:srgbClr val="274566"/>
            </a:solidFill>
            <a:prstDash val="solid"/>
          </a:ln>
        </p:spPr>
      </p:sp>
      <p:sp>
        <p:nvSpPr>
          <p:cNvPr id="5" name="github-label">
            <a:extLst xmlns:a="http://schemas.openxmlformats.org/drawingml/2006/main">
              <a:ext uri="{FF2B5EF4-FFF2-40B4-BE49-F238E27FC236}">
                <a16:creationId xmlns:a16="http://schemas.microsoft.com/office/drawing/2014/main" id="{A1F386C9-3CC5-4653-8FBE-C84750A30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2481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16BDEB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16BDEB"/>
                </a:solidFill>
                <a:latin typeface="Aptos"/>
                <a:ea typeface="Aptos"/>
                <a:cs typeface="Aptos"/>
              </a:rPr>
              <a:t>GITHUB</a:t>
            </a:r>
          </a:p>
        </p:txBody>
      </p:sp>
      <p:sp>
        <p:nvSpPr>
          <p:cNvPr id="6" name="github-url">
            <a:extLst xmlns:a="http://schemas.openxmlformats.org/drawingml/2006/main">
              <a:ext uri="{FF2B5EF4-FFF2-40B4-BE49-F238E27FC236}">
                <a16:creationId xmlns:a16="http://schemas.microsoft.com/office/drawing/2014/main" id="{36E33CDE-5E3D-4E12-94BE-0C0DB647F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4514850"/>
            <a:ext cx="42481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github.com/fatmaturkmen244-spec/</a:t>
            </a:r>
          </a:p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kuantum-hibrit-optimizasyon</a:t>
            </a:r>
          </a:p>
        </p:txBody>
      </p:sp>
      <p:sp>
        <p:nvSpPr>
          <p:cNvPr id="7" name="live-box">
            <a:extLst xmlns:a="http://schemas.openxmlformats.org/drawingml/2006/main">
              <a:ext uri="{FF2B5EF4-FFF2-40B4-BE49-F238E27FC236}">
                <a16:creationId xmlns:a16="http://schemas.microsoft.com/office/drawing/2014/main" id="{E7FE29A8-C818-4603-9A29-69024CD26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1700" y="4000500"/>
            <a:ext cx="5524500" cy="1066800"/>
          </a:xfrm>
          <a:prstGeom xmlns:a="http://schemas.openxmlformats.org/drawingml/2006/main" prst="roundRect">
            <a:avLst>
              <a:gd name="adj" fmla="val 10714"/>
            </a:avLst>
          </a:prstGeom>
          <a:solidFill xmlns:a="http://schemas.openxmlformats.org/drawingml/2006/main">
            <a:srgbClr val="6658F6"/>
          </a:solidFill>
          <a:ln xmlns:a="http://schemas.openxmlformats.org/drawingml/2006/main" w="9525">
            <a:solidFill>
              <a:srgbClr val="6658F6"/>
            </a:solidFill>
            <a:prstDash val="solid"/>
          </a:ln>
        </p:spPr>
      </p:sp>
      <p:sp>
        <p:nvSpPr>
          <p:cNvPr id="8" name="live-label">
            <a:extLst xmlns:a="http://schemas.openxmlformats.org/drawingml/2006/main">
              <a:ext uri="{FF2B5EF4-FFF2-40B4-BE49-F238E27FC236}">
                <a16:creationId xmlns:a16="http://schemas.microsoft.com/office/drawing/2014/main" id="{91FF3877-D294-4081-BDD3-0E853E7BA3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248150"/>
            <a:ext cx="14287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72222"/>
          </a:bodyPr>
          <a:lstStyle xmlns:a="http://schemas.openxmlformats.org/drawingml/2006/main"/>
          <a:p xmlns:a="http://schemas.openxmlformats.org/drawingml/2006/main">
            <a:pPr>
              <a:defRPr sz="900" b="1">
                <a:solidFill>
                  <a:srgbClr val="DFF9FF"/>
                </a:solidFill>
                <a:latin typeface="Aptos"/>
                <a:ea typeface="Aptos"/>
                <a:cs typeface="Aptos"/>
              </a:defRPr>
            </a:pPr>
            <a:r>
              <a:rPr sz="900" b="1">
                <a:solidFill>
                  <a:srgbClr val="DFF9FF"/>
                </a:solidFill>
                <a:latin typeface="Aptos"/>
                <a:ea typeface="Aptos"/>
                <a:cs typeface="Aptos"/>
              </a:rPr>
              <a:t>CANLI DEMO</a:t>
            </a:r>
          </a:p>
        </p:txBody>
      </p:sp>
      <p:sp>
        <p:nvSpPr>
          <p:cNvPr id="9" name="live-url">
            <a:extLst xmlns:a="http://schemas.openxmlformats.org/drawingml/2006/main">
              <a:ext uri="{FF2B5EF4-FFF2-40B4-BE49-F238E27FC236}">
                <a16:creationId xmlns:a16="http://schemas.microsoft.com/office/drawing/2014/main" id="{0D3EF0AF-4046-4C02-9C14-26F18C5E9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514850"/>
            <a:ext cx="47625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94792"/>
          </a:bodyPr>
          <a:lstStyle xmlns:a="http://schemas.openxmlformats.org/drawingml/2006/main"/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fatmaturkmen244-spec.github.io/</a:t>
            </a:r>
          </a:p>
          <a:p xmlns:a="http://schemas.openxmlformats.org/drawingml/2006/main">
            <a:pPr>
              <a:defRPr sz="1200" b="1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kuantum-hibrit-optimizasyon/</a:t>
            </a:r>
          </a:p>
        </p:txBody>
      </p:sp>
      <p:sp>
        <p:nvSpPr>
          <p:cNvPr id="10" name="close-question">
            <a:extLst xmlns:a="http://schemas.openxmlformats.org/drawingml/2006/main">
              <a:ext uri="{FF2B5EF4-FFF2-40B4-BE49-F238E27FC236}">
                <a16:creationId xmlns:a16="http://schemas.microsoft.com/office/drawing/2014/main" id="{7C0748C8-3F38-4068-B35B-4935726D1D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65785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100000"/>
          </a:bodyPr>
          <a:lstStyle xmlns:a="http://schemas.openxmlformats.org/drawingml/2006/main"/>
          <a:p xmlns:a="http://schemas.openxmlformats.org/drawingml/2006/main">
            <a:pPr>
              <a:defRPr sz="1350">
                <a:solidFill>
                  <a:srgbClr val="16BDEB"/>
                </a:solidFill>
                <a:latin typeface="Aptos"/>
                <a:ea typeface="Aptos"/>
                <a:cs typeface="Aptos"/>
              </a:defRPr>
            </a:pPr>
            <a:r>
              <a:rPr sz="1350">
                <a:solidFill>
                  <a:srgbClr val="16BDEB"/>
                </a:solidFill>
                <a:latin typeface="Aptos"/>
                <a:ea typeface="Aptos"/>
                <a:cs typeface="Aptos"/>
              </a:rPr>
              <a:t>Soru: Kuantum hangi problemde gerçekten avantaj sağlayacak? Cevabı varsaymıyoruz — benchmark ediyoruz.</a:t>
            </a:r>
          </a:p>
        </p:txBody>
      </p:sp>
      <p:sp>
        <p:nvSpPr>
          <p:cNvPr id="11" name="page-10">
            <a:extLst xmlns:a="http://schemas.openxmlformats.org/drawingml/2006/main">
              <a:ext uri="{FF2B5EF4-FFF2-40B4-BE49-F238E27FC236}">
                <a16:creationId xmlns:a16="http://schemas.microsoft.com/office/drawing/2014/main" id="{8C1105B0-B7DA-4714-BA60-EC7A75056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34750" y="6419850"/>
            <a:ext cx="3048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anchor="t">
            <a:normAutofit fontScale="63636"/>
          </a:bodyPr>
          <a:lstStyle xmlns:a="http://schemas.openxmlformats.org/drawingml/2006/main"/>
          <a:p xmlns:a="http://schemas.openxmlformats.org/drawingml/2006/main">
            <a:pPr algn="r">
              <a:defRPr sz="825">
                <a:solidFill>
                  <a:srgbClr val="8B95AA"/>
                </a:solidFill>
                <a:latin typeface="Aptos"/>
                <a:ea typeface="Aptos"/>
                <a:cs typeface="Aptos"/>
              </a:defRPr>
            </a:pPr>
            <a:r>
              <a:rPr sz="825">
                <a:solidFill>
                  <a:srgbClr val="8B95AA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</p:spTree>
    <p:extLst>
      <p:ext uri="{BB962C8B-B14F-4D97-AF65-F5344CB8AC3E}">
        <p14:creationId xmlns:p14="http://schemas.microsoft.com/office/powerpoint/2010/main" val="133510958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2026-08-28T22:06:38.0490000Z</dcterms:created>
  <dcterms:modified xsi:type="dcterms:W3CDTF">2026-08-28T22:06:38.0490000Z</dcterms:modified>
</coreProperties>
</file>