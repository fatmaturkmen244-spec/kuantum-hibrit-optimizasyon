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8d21ead2d49e3" /><Relationship Type="http://schemas.openxmlformats.org/officeDocument/2006/relationships/extended-properties" Target="/docProps/app.xml" Id="Rafa5096699d94e0a" /><Relationship Type="http://schemas.openxmlformats.org/officeDocument/2006/relationships/officeDocument" Target="/ppt/presentation.xml" Id="R24b52deeed6a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5b3a692a94c41"/>
  </p:sldMasterIdLst>
  <p:notesMasterIdLst>
    <p:notesMasterId xmlns:r="http://schemas.openxmlformats.org/officeDocument/2006/relationships" r:id="R4a3e3a935d9f47c9"/>
  </p:notesMasterIdLst>
  <p:sldIdLst>
    <p:sldId xmlns:r="http://schemas.openxmlformats.org/officeDocument/2006/relationships" id="256" r:id="R3b890d58cef946d8"/>
    <p:sldId xmlns:r="http://schemas.openxmlformats.org/officeDocument/2006/relationships" id="257" r:id="R760b3778adbc4d13"/>
    <p:sldId xmlns:r="http://schemas.openxmlformats.org/officeDocument/2006/relationships" id="258" r:id="R5dfb46fb23064a3e"/>
    <p:sldId xmlns:r="http://schemas.openxmlformats.org/officeDocument/2006/relationships" id="259" r:id="R94d13a072a4449a4"/>
    <p:sldId xmlns:r="http://schemas.openxmlformats.org/officeDocument/2006/relationships" id="260" r:id="R6e79bf888c3a4334"/>
    <p:sldId xmlns:r="http://schemas.openxmlformats.org/officeDocument/2006/relationships" id="261" r:id="R0bacaa3bcc244b6e"/>
    <p:sldId xmlns:r="http://schemas.openxmlformats.org/officeDocument/2006/relationships" id="262" r:id="Rcdfa2a191abe4d06"/>
    <p:sldId xmlns:r="http://schemas.openxmlformats.org/officeDocument/2006/relationships" id="263" r:id="R57ef73b76c584878"/>
    <p:sldId xmlns:r="http://schemas.openxmlformats.org/officeDocument/2006/relationships" id="264" r:id="R0547bcd7a15f4750"/>
    <p:sldId xmlns:r="http://schemas.openxmlformats.org/officeDocument/2006/relationships" id="265" r:id="R27e971e5ec09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42441e9ef4a67" /><Relationship Type="http://schemas.openxmlformats.org/officeDocument/2006/relationships/slideMaster" Target="/ppt/slideMasters/slideMaster1.xml" Id="R5b55b3a692a94c41" /><Relationship Type="http://schemas.openxmlformats.org/officeDocument/2006/relationships/notesMaster" Target="/ppt/notesMasters/notesMaster1.xml" Id="R4a3e3a935d9f47c9" /><Relationship Type="http://schemas.openxmlformats.org/officeDocument/2006/relationships/presProps" Target="/ppt/presProps.xml" Id="Ra1750c62d12d4f63" /><Relationship Type="http://schemas.openxmlformats.org/officeDocument/2006/relationships/tableStyles" Target="/ppt/tableStyles.xml" Id="R02e3d4c1bdd64ede" /><Relationship Type="http://schemas.openxmlformats.org/officeDocument/2006/relationships/slide" Target="/ppt/slides/slide1.xml" Id="R3b890d58cef946d8" /><Relationship Type="http://schemas.openxmlformats.org/officeDocument/2006/relationships/slide" Target="/ppt/slides/slide2.xml" Id="R760b3778adbc4d13" /><Relationship Type="http://schemas.openxmlformats.org/officeDocument/2006/relationships/slide" Target="/ppt/slides/slide3.xml" Id="R5dfb46fb23064a3e" /><Relationship Type="http://schemas.openxmlformats.org/officeDocument/2006/relationships/slide" Target="/ppt/slides/slide4.xml" Id="R94d13a072a4449a4" /><Relationship Type="http://schemas.openxmlformats.org/officeDocument/2006/relationships/slide" Target="/ppt/slides/slide5.xml" Id="R6e79bf888c3a4334" /><Relationship Type="http://schemas.openxmlformats.org/officeDocument/2006/relationships/slide" Target="/ppt/slides/slide6.xml" Id="R0bacaa3bcc244b6e" /><Relationship Type="http://schemas.openxmlformats.org/officeDocument/2006/relationships/slide" Target="/ppt/slides/slide7.xml" Id="Rcdfa2a191abe4d06" /><Relationship Type="http://schemas.openxmlformats.org/officeDocument/2006/relationships/slide" Target="/ppt/slides/slide8.xml" Id="R57ef73b76c584878" /><Relationship Type="http://schemas.openxmlformats.org/officeDocument/2006/relationships/slide" Target="/ppt/slides/slide9.xml" Id="R0547bcd7a15f4750" /><Relationship Type="http://schemas.openxmlformats.org/officeDocument/2006/relationships/slide" Target="/ppt/slides/slide10.xml" Id="R27e971e5ec09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3a6c26aa04a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a37ec160b4db3" /><Relationship Type="http://schemas.openxmlformats.org/officeDocument/2006/relationships/notesMaster" Target="/ppt/notesMasters/notesMaster1.xml" Id="R04cc334ca65e43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c44f24d4d4035" /><Relationship Type="http://schemas.openxmlformats.org/officeDocument/2006/relationships/notesMaster" Target="/ppt/notesMasters/notesMaster1.xml" Id="R980a78d3c883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a5177424734e1f" /><Relationship Type="http://schemas.openxmlformats.org/officeDocument/2006/relationships/notesMaster" Target="/ppt/notesMasters/notesMaster1.xml" Id="Raa125d0c11bf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9f2738bf204011" /><Relationship Type="http://schemas.openxmlformats.org/officeDocument/2006/relationships/notesMaster" Target="/ppt/notesMasters/notesMaster1.xml" Id="Reedff9c8615a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66721e8284e42" /><Relationship Type="http://schemas.openxmlformats.org/officeDocument/2006/relationships/notesMaster" Target="/ppt/notesMasters/notesMaster1.xml" Id="Rd7a3ed48b0bc42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847aa8c08c467e" /><Relationship Type="http://schemas.openxmlformats.org/officeDocument/2006/relationships/notesMaster" Target="/ppt/notesMasters/notesMaster1.xml" Id="Re863eb9f56724c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22220d3f84999" /><Relationship Type="http://schemas.openxmlformats.org/officeDocument/2006/relationships/notesMaster" Target="/ppt/notesMasters/notesMaster1.xml" Id="R0abe98edf8224a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f830c97e174ee6" /><Relationship Type="http://schemas.openxmlformats.org/officeDocument/2006/relationships/notesMaster" Target="/ppt/notesMasters/notesMaster1.xml" Id="R051df7c2f28f4b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58d5326934bcd" /><Relationship Type="http://schemas.openxmlformats.org/officeDocument/2006/relationships/notesMaster" Target="/ppt/notesMasters/notesMaster1.xml" Id="R5ae594d7319d4d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e84161a673418a" /><Relationship Type="http://schemas.openxmlformats.org/officeDocument/2006/relationships/notesMaster" Target="/ppt/notesMasters/notesMaster1.xml" Id="Rb0f10ef749034d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Açılış (20 saniye): Bu proje bir navigasyon uygulaması değil; optimizasyon yöntemlerini karşılaştıran bir laboratuvar.</a:t>
            </a:r>
          </a:p>
          <a:p xmlns:a="http://schemas.openxmlformats.org/drawingml/2006/main">
            <a:r>
              <a:t>Kullanıcı problemi normal Türkçe ile anlatıyor. Sistem aynı problemi klasik ve kuantum yöntemlerle çözüyor.</a:t>
            </a:r>
          </a:p>
          <a:p xmlns:a="http://schemas.openxmlformats.org/drawingml/2006/main">
            <a:r>
              <a:t>En önemli söz: Kuantumun daha iyi çıktığını varsaymıyoruz; ölçüp kanıtıyla gösteriyoruz.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Şehir sayısındaki küçük artışın seçenek sayısını nasıl büyüttüğünü vurgula.</a:t>
            </a:r>
          </a:p>
          <a:p xmlns:a="http://schemas.openxmlformats.org/drawingml/2006/main">
            <a:r>
              <a:t>Bu örnek gezgin satıcı problemi olarak bilinir ve NP-zor problem ailesindedir.</a:t>
            </a:r>
          </a:p>
          <a:p xmlns:a="http://schemas.openxmlformats.org/drawingml/2006/main">
            <a:r>
              <a:t>Burada amaç büyük ölçekte kesin çözüm sözü vermek değil; yöntemlerin nerede güçlü ve zayıf olduğunu ölçmektir.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slaytı soldan sağa anlat.</a:t>
            </a:r>
          </a:p>
          <a:p xmlns:a="http://schemas.openxmlformats.org/drawingml/2006/main">
            <a:r>
              <a:t>Azure OpenAI bağlıysa doğal dil problem şemasına dönüştürülür; bağlı değilse demo yerel şehir sözlüğüyle çalışmaya devam eder.</a:t>
            </a:r>
          </a:p>
          <a:p xmlns:a="http://schemas.openxmlformats.org/drawingml/2006/main">
            <a:r>
              <a:t>Son adımda yalnızca en kısa rota değil, süre ve kuantum kanıtı da gösterilir.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Canlı demoda önce Yazarak çöz sekmesini aç.</a:t>
            </a:r>
          </a:p>
          <a:p xmlns:a="http://schemas.openxmlformats.org/drawingml/2006/main">
            <a:r>
              <a:t>Örnek cümleyi oku ve Cümleyi anla ve çöz düğmesine bas.</a:t>
            </a:r>
          </a:p>
          <a:p xmlns:a="http://schemas.openxmlformats.org/drawingml/2006/main">
            <a:r>
              <a:t>Beklerken söyle: Sistem aynı veriyi klasik ve kuantum motorlara veriyor; adil karşılaştırma burada başlıyor.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Kuantumu sihir gibi anlatma. Dört işlemi sırayla açıkla: hazırlama, maliyet fazı, karıştırma, ölçüm.</a:t>
            </a:r>
          </a:p>
          <a:p xmlns:a="http://schemas.openxmlformats.org/drawingml/2006/main">
            <a:r>
              <a:t>Q# devresinde H ve kontrollü faz kapıları ile ölçüm gerçekten çalışır.</a:t>
            </a:r>
          </a:p>
          <a:p xmlns:a="http://schemas.openxmlformats.org/drawingml/2006/main">
            <a:r>
              <a:t>Sonucun kuantumdan gelmesi, bugün mutlaka daha hızlı olduğu anlamına gelmez. Bu dürüstlük projenin güvenilirliğini artırır.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jürinin 'gerçekten kuantum nerede?' sorusunun cevabı.</a:t>
            </a:r>
          </a:p>
          <a:p xmlns:a="http://schemas.openxmlformats.org/drawingml/2006/main">
            <a:r>
              <a:t>Birinci seviye matematiksel simülasyon; ikinci seviye çalışan Microsoft Q# devresi; üçüncü seviye Azure Quantum işi.</a:t>
            </a:r>
          </a:p>
          <a:p xmlns:a="http://schemas.openxmlformats.org/drawingml/2006/main">
            <a:r>
              <a:t>Demo şu anda hangi seviyedeyse yalnızca onu aktif gösterir. Böylece gerçek donanım kullanılmış gibi yanlış bir izlenim yaratılmaz.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slaytta yöntemleri kısa kısa tanıt; ayrıntılı algoritma dersine girme.</a:t>
            </a:r>
          </a:p>
          <a:p xmlns:a="http://schemas.openxmlformats.org/drawingml/2006/main">
            <a:r>
              <a:t>Kesin yöntem kalite referansı, klasik hızlı yöntem pratik referans, kuantum modeli olasılık davranışı, Q# ise devre kanıtıdır.</a:t>
            </a:r>
          </a:p>
          <a:p xmlns:a="http://schemas.openxmlformats.org/drawingml/2006/main">
            <a:r>
              <a:t>Projenin değeri tek bir yöntemi parlatmak değil; aynı problem üzerinde ölçülebilir kıyas sunmaktır.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Sorulursa net cevap: Bu Google Maps rakibi değil.</a:t>
            </a:r>
          </a:p>
          <a:p xmlns:a="http://schemas.openxmlformats.org/drawingml/2006/main">
            <a:r>
              <a:t>Kullanım amacı kuantum algoritmalarını öğretmek, klasik-kuantum kıyası yapmak ve Azure Quantum iş akışına hazırlanmaktır.</a:t>
            </a:r>
          </a:p>
          <a:p xmlns:a="http://schemas.openxmlformats.org/drawingml/2006/main">
            <a:r>
              <a:t>İnsanların ilgisini çeken nokta, kuantum iddiasının sonuç ekranında kanıt seviyesine dönüşmesidir.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Buradaki iki kavramı ayır: NL, doğal dil ile problemi anlatmak; NP-zor ise çözüm uzayı hızlı büyüyen problem ailesi.</a:t>
            </a:r>
          </a:p>
          <a:p xmlns:a="http://schemas.openxmlformats.org/drawingml/2006/main">
            <a:r>
              <a:t>Bugün çalışan kapsam Türkçe rota problemidir.</a:t>
            </a:r>
          </a:p>
          <a:p xmlns:a="http://schemas.openxmlformats.org/drawingml/2006/main">
            <a:r>
              <a:t>Sonraki mantıklı adım, ortak QUBO katmanı üzerinden Max-Cut, çanta problemi ve çizelgelemeyi eklemektir. Bunları bugün çalışıyormuş gibi anlatma; yol haritası 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 cümlesi: Bu proje kuantumun her zaman daha iyi olduğunu savunmuyor; hangi koşulda değer ürettiğini ölçülebilir hale getiriyor.</a:t>
            </a:r>
          </a:p>
          <a:p xmlns:a="http://schemas.openxmlformats.org/drawingml/2006/main">
            <a:r>
              <a:t>Ardından canlı demoya veya GitHub koduna geç.</a:t>
            </a:r>
          </a:p>
          <a:p xmlns:a="http://schemas.openxmlformats.org/drawingml/2006/main">
            <a:r>
              <a:t>Soru gelirse üç başlıkta cevap ver: doğal dil kolaylığı, adil klasik-kuantum benchmark’ı, üç seviyeli kuantum kanıtı.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980c4555b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285711316040ca" /><Relationship Type="http://schemas.openxmlformats.org/officeDocument/2006/relationships/slideLayout" Target="/ppt/slideLayouts/slideLayout1.xml" Id="R68cba5be301b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ba5be301b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1f39fc89e401a" /><Relationship Type="http://schemas.openxmlformats.org/officeDocument/2006/relationships/notesSlide" Target="/ppt/notesSlides/notesSlide1.xml" Id="Rdbcb8c8f5d8a45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5cf1d563c4e90" /><Relationship Type="http://schemas.openxmlformats.org/officeDocument/2006/relationships/notesSlide" Target="/ppt/notesSlides/notesSlide2.xml" Id="Rba3ef51121944a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5a612ab224bfc" /><Relationship Type="http://schemas.openxmlformats.org/officeDocument/2006/relationships/notesSlide" Target="/ppt/notesSlides/notesSlide3.xml" Id="R6c399b25d59c42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dbd5693df441c" /><Relationship Type="http://schemas.openxmlformats.org/officeDocument/2006/relationships/image" Target="/ppt/media/image.jpeg" Id="R0459aa71f86c4809" /><Relationship Type="http://schemas.openxmlformats.org/officeDocument/2006/relationships/notesSlide" Target="/ppt/notesSlides/notesSlide4.xml" Id="Rce94d599ce9b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77ef0cc974189" /><Relationship Type="http://schemas.openxmlformats.org/officeDocument/2006/relationships/notesSlide" Target="/ppt/notesSlides/notesSlide5.xml" Id="Rdf456f1f5c1b4c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42c4d29c74d28" /><Relationship Type="http://schemas.openxmlformats.org/officeDocument/2006/relationships/image" Target="/ppt/media/image2.jpeg" Id="Ra9c152d7096a4184" /><Relationship Type="http://schemas.openxmlformats.org/officeDocument/2006/relationships/notesSlide" Target="/ppt/notesSlides/notesSlide6.xml" Id="R80dda7e0daaa41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316b1c0e84add" /><Relationship Type="http://schemas.openxmlformats.org/officeDocument/2006/relationships/notesSlide" Target="/ppt/notesSlides/notesSlide7.xml" Id="R6fffa6ee8cc44d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37a41468840ed" /><Relationship Type="http://schemas.openxmlformats.org/officeDocument/2006/relationships/notesSlide" Target="/ppt/notesSlides/notesSlide8.xml" Id="Re8ce6be74de5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caf88659d4a67" /><Relationship Type="http://schemas.openxmlformats.org/officeDocument/2006/relationships/notesSlide" Target="/ppt/notesSlides/notesSlide9.xml" Id="R6d062d22e8314b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0ba7aa9b4a9a" /><Relationship Type="http://schemas.openxmlformats.org/officeDocument/2006/relationships/notesSlide" Target="/ppt/notesSlides/notesSlide10.xml" Id="R7acb4de96bf3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5DDFB708-33F3-4273-BFCE-8E11373C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Quantum Route Lab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C7AC5DF-F4E6-4DC1-A53E-3E3D014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Doğal dilden çalışan, klasik ve kuantum yöntemlerini aynı problemde dürüstçe karşılaştıran optimizasyon laboratuvarı.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2ABA1C-E693-482F-B486-DC2EC43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MICROSOFT AZURE × Q# × HİBRİT OPTİMİZASYON</a:t>
            </a:r>
          </a:p>
        </p:txBody>
      </p:sp>
      <p:sp>
        <p:nvSpPr>
          <p:cNvPr id="4" name="quantum-orbit">
            <a:extLst xmlns:a="http://schemas.openxmlformats.org/drawingml/2006/main">
              <a:ext uri="{FF2B5EF4-FFF2-40B4-BE49-F238E27FC236}">
                <a16:creationId xmlns:a16="http://schemas.microsoft.com/office/drawing/2014/main" id="{BAB22176-6E12-45B2-91BC-078118C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2383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AFF"/>
          </a:solidFill>
          <a:ln xmlns:a="http://schemas.openxmlformats.org/drawingml/2006/main" w="9525">
            <a:solidFill>
              <a:srgbClr val="C9C4FF"/>
            </a:solidFill>
            <a:prstDash val="solid"/>
          </a:ln>
        </p:spPr>
      </p:sp>
      <p:sp>
        <p:nvSpPr>
          <p:cNvPr id="5" name="quantum-psi">
            <a:extLst xmlns:a="http://schemas.openxmlformats.org/drawingml/2006/main">
              <a:ext uri="{FF2B5EF4-FFF2-40B4-BE49-F238E27FC236}">
                <a16:creationId xmlns:a16="http://schemas.microsoft.com/office/drawing/2014/main" id="{9882A190-0BCE-4E22-A086-4FD17E1D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23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7800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ψ</a:t>
            </a:r>
          </a:p>
        </p:txBody>
      </p:sp>
      <p:sp>
        <p:nvSpPr>
          <p:cNvPr id="6" name="accent-bar">
            <a:extLst xmlns:a="http://schemas.openxmlformats.org/drawingml/2006/main">
              <a:ext uri="{FF2B5EF4-FFF2-40B4-BE49-F238E27FC236}">
                <a16:creationId xmlns:a16="http://schemas.microsoft.com/office/drawing/2014/main" id="{65FEF9F8-425F-4C01-BDA5-4570002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DEB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08213022-061C-48A4-8A8A-96B9D2E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7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57D"/>
                </a:solidFill>
                <a:latin typeface="Aptos"/>
                <a:ea typeface="Aptos"/>
                <a:cs typeface="Aptos"/>
              </a:rPr>
              <a:t>Fatma Türkmen · İlk ürün demosu</a:t>
            </a:r>
          </a:p>
        </p:txBody>
      </p:sp>
    </p:spTree>
    <p:extLst>
      <p:ext uri="{BB962C8B-B14F-4D97-AF65-F5344CB8AC3E}">
        <p14:creationId xmlns:p14="http://schemas.microsoft.com/office/powerpoint/2010/main" val="1661614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blem-eyebrow">
            <a:extLst xmlns:a="http://schemas.openxmlformats.org/drawingml/2006/main">
              <a:ext uri="{FF2B5EF4-FFF2-40B4-BE49-F238E27FC236}">
                <a16:creationId xmlns:a16="http://schemas.microsoft.com/office/drawing/2014/main" id="{DD835710-24DC-405B-BF9A-E2CDAAF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3FAEA7D0-D51A-4804-80B9-478DFC2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Rota seçmek kolay görünür; seçenek sayısı patlar.</a:t>
            </a:r>
          </a:p>
        </p:txBody>
      </p:sp>
      <p:sp>
        <p:nvSpPr>
          <p:cNvPr id="3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228D6386-E0C4-4384-9C98-7C39BA56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Şehir sayısı büyüdükçe tüm rotaları denemek klasik bilgisayarlar için hızla pahalı hale gelir.</a:t>
            </a:r>
          </a:p>
        </p:txBody>
      </p:sp>
      <p:sp>
        <p:nvSpPr>
          <p:cNvPr id="4" name="growth-0">
            <a:extLst xmlns:a="http://schemas.openxmlformats.org/drawingml/2006/main">
              <a:ext uri="{FF2B5EF4-FFF2-40B4-BE49-F238E27FC236}">
                <a16:creationId xmlns:a16="http://schemas.microsoft.com/office/drawing/2014/main" id="{33AF3129-F2F9-4215-91D0-9A6DB00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5" name="growth-label-0">
            <a:extLst xmlns:a="http://schemas.openxmlformats.org/drawingml/2006/main">
              <a:ext uri="{FF2B5EF4-FFF2-40B4-BE49-F238E27FC236}">
                <a16:creationId xmlns:a16="http://schemas.microsoft.com/office/drawing/2014/main" id="{129A019F-78EF-4792-B08E-444FE4E0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9657D"/>
                </a:solidFill>
                <a:latin typeface="Aptos"/>
                <a:ea typeface="Aptos"/>
                <a:cs typeface="Aptos"/>
              </a:rPr>
              <a:t>5 şehir</a:t>
            </a:r>
          </a:p>
        </p:txBody>
      </p:sp>
      <p:sp>
        <p:nvSpPr>
          <p:cNvPr id="6" name="growth-value-0">
            <a:extLst xmlns:a="http://schemas.openxmlformats.org/drawingml/2006/main">
              <a:ext uri="{FF2B5EF4-FFF2-40B4-BE49-F238E27FC236}">
                <a16:creationId xmlns:a16="http://schemas.microsoft.com/office/drawing/2014/main" id="{618628E8-000C-4B04-ADF8-CADD253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growth-unit-0">
            <a:extLst xmlns:a="http://schemas.openxmlformats.org/drawingml/2006/main">
              <a:ext uri="{FF2B5EF4-FFF2-40B4-BE49-F238E27FC236}">
                <a16:creationId xmlns:a16="http://schemas.microsoft.com/office/drawing/2014/main" id="{AF9518D9-25FE-4C3D-8804-D04920A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olası tur</a:t>
            </a:r>
          </a:p>
        </p:txBody>
      </p:sp>
      <p:sp>
        <p:nvSpPr>
          <p:cNvPr id="8" name="growth-1">
            <a:extLst xmlns:a="http://schemas.openxmlformats.org/drawingml/2006/main">
              <a:ext uri="{FF2B5EF4-FFF2-40B4-BE49-F238E27FC236}">
                <a16:creationId xmlns:a16="http://schemas.microsoft.com/office/drawing/2014/main" id="{55114C93-E2D0-4D9B-A797-9F2F95C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9" name="growth-label-1">
            <a:extLst xmlns:a="http://schemas.openxmlformats.org/drawingml/2006/main">
              <a:ext uri="{FF2B5EF4-FFF2-40B4-BE49-F238E27FC236}">
                <a16:creationId xmlns:a16="http://schemas.microsoft.com/office/drawing/2014/main" id="{313A4848-75E2-42C3-A371-16B45DA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9657D"/>
                </a:solidFill>
                <a:latin typeface="Aptos"/>
                <a:ea typeface="Aptos"/>
                <a:cs typeface="Aptos"/>
              </a:rPr>
              <a:t>9 şehir</a:t>
            </a:r>
          </a:p>
        </p:txBody>
      </p:sp>
      <p:sp>
        <p:nvSpPr>
          <p:cNvPr id="10" name="growth-value-1">
            <a:extLst xmlns:a="http://schemas.openxmlformats.org/drawingml/2006/main">
              <a:ext uri="{FF2B5EF4-FFF2-40B4-BE49-F238E27FC236}">
                <a16:creationId xmlns:a16="http://schemas.microsoft.com/office/drawing/2014/main" id="{A7631120-DE5B-40F2-BDE4-0DD055B1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40.320</a:t>
            </a:r>
          </a:p>
        </p:txBody>
      </p:sp>
      <p:sp>
        <p:nvSpPr>
          <p:cNvPr id="11" name="growth-unit-1">
            <a:extLst xmlns:a="http://schemas.openxmlformats.org/drawingml/2006/main">
              <a:ext uri="{FF2B5EF4-FFF2-40B4-BE49-F238E27FC236}">
                <a16:creationId xmlns:a16="http://schemas.microsoft.com/office/drawing/2014/main" id="{48ED5139-6857-428B-BDE2-BCCC11D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29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olası tur</a:t>
            </a:r>
          </a:p>
        </p:txBody>
      </p:sp>
      <p:sp>
        <p:nvSpPr>
          <p:cNvPr id="12" name="growth-2">
            <a:extLst xmlns:a="http://schemas.openxmlformats.org/drawingml/2006/main">
              <a:ext uri="{FF2B5EF4-FFF2-40B4-BE49-F238E27FC236}">
                <a16:creationId xmlns:a16="http://schemas.microsoft.com/office/drawing/2014/main" id="{EC6DE413-C688-4610-81D2-56704C2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EAFF"/>
          </a:solidFill>
          <a:ln xmlns:a="http://schemas.openxmlformats.org/drawingml/2006/main" w="9525">
            <a:solidFill>
              <a:srgbClr val="BFB7FF"/>
            </a:solidFill>
            <a:prstDash val="solid"/>
          </a:ln>
        </p:spPr>
      </p:sp>
      <p:sp>
        <p:nvSpPr>
          <p:cNvPr id="13" name="growth-label-2">
            <a:extLst xmlns:a="http://schemas.openxmlformats.org/drawingml/2006/main">
              <a:ext uri="{FF2B5EF4-FFF2-40B4-BE49-F238E27FC236}">
                <a16:creationId xmlns:a16="http://schemas.microsoft.com/office/drawing/2014/main" id="{474662E2-2348-45BC-B2EB-A0D2AC72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9657D"/>
                </a:solidFill>
                <a:latin typeface="Aptos"/>
                <a:ea typeface="Aptos"/>
                <a:cs typeface="Aptos"/>
              </a:rPr>
              <a:t>13 şehir</a:t>
            </a:r>
          </a:p>
        </p:txBody>
      </p:sp>
      <p:sp>
        <p:nvSpPr>
          <p:cNvPr id="14" name="growth-value-2">
            <a:extLst xmlns:a="http://schemas.openxmlformats.org/drawingml/2006/main">
              <a:ext uri="{FF2B5EF4-FFF2-40B4-BE49-F238E27FC236}">
                <a16:creationId xmlns:a16="http://schemas.microsoft.com/office/drawing/2014/main" id="{0483454E-8977-403B-B011-BDB27632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479 M</a:t>
            </a:r>
          </a:p>
        </p:txBody>
      </p:sp>
      <p:sp>
        <p:nvSpPr>
          <p:cNvPr id="15" name="growth-unit-2">
            <a:extLst xmlns:a="http://schemas.openxmlformats.org/drawingml/2006/main">
              <a:ext uri="{FF2B5EF4-FFF2-40B4-BE49-F238E27FC236}">
                <a16:creationId xmlns:a16="http://schemas.microsoft.com/office/drawing/2014/main" id="{8C49F4C6-DF0C-40A7-99B5-B077576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29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olası tur</a:t>
            </a:r>
          </a:p>
        </p:txBody>
      </p:sp>
      <p:sp>
        <p:nvSpPr>
          <p:cNvPr id="16" name="growth-formula">
            <a:extLst xmlns:a="http://schemas.openxmlformats.org/drawingml/2006/main">
              <a:ext uri="{FF2B5EF4-FFF2-40B4-BE49-F238E27FC236}">
                <a16:creationId xmlns:a16="http://schemas.microsoft.com/office/drawing/2014/main" id="{26B59600-37A5-4E18-B9C8-610AAE3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Sabit başlangıçla yaklaşık (n − 1)! olası tur</a:t>
            </a:r>
          </a:p>
        </p:txBody>
      </p:sp>
      <p:sp>
        <p:nvSpPr>
          <p:cNvPr id="17" name="growth-message">
            <a:extLst xmlns:a="http://schemas.openxmlformats.org/drawingml/2006/main">
              <a:ext uri="{FF2B5EF4-FFF2-40B4-BE49-F238E27FC236}">
                <a16:creationId xmlns:a16="http://schemas.microsoft.com/office/drawing/2014/main" id="{15988C27-AB73-48B3-9277-5AA2624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Bu nedenle problem, hibrit optimizasyon için iyi bir eğitim ve kıyaslama alanıdır.</a:t>
            </a:r>
          </a:p>
        </p:txBody>
      </p:sp>
      <p:sp>
        <p:nvSpPr>
          <p:cNvPr id="18" name="tag-NP-zor problem ailesi">
            <a:extLst xmlns:a="http://schemas.openxmlformats.org/drawingml/2006/main">
              <a:ext uri="{FF2B5EF4-FFF2-40B4-BE49-F238E27FC236}">
                <a16:creationId xmlns:a16="http://schemas.microsoft.com/office/drawing/2014/main" id="{51B6C64D-F110-4E47-8122-8693DD8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10200"/>
            <a:ext cx="2247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D"/>
          </a:solidFill>
          <a:ln xmlns:a="http://schemas.openxmlformats.org/drawingml/2006/main" w="9525">
            <a:solidFill>
              <a:srgbClr val="E8F8FD"/>
            </a:solidFill>
            <a:prstDash val="solid"/>
          </a:ln>
        </p:spPr>
      </p:sp>
      <p:sp>
        <p:nvSpPr>
          <p:cNvPr id="19" name="tag-text-NP-zor problem ailesi">
            <a:extLst xmlns:a="http://schemas.openxmlformats.org/drawingml/2006/main">
              <a:ext uri="{FF2B5EF4-FFF2-40B4-BE49-F238E27FC236}">
                <a16:creationId xmlns:a16="http://schemas.microsoft.com/office/drawing/2014/main" id="{C36A82DD-AFAD-4521-9078-466B102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768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E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E9E"/>
                </a:solidFill>
                <a:latin typeface="Aptos"/>
                <a:ea typeface="Aptos"/>
                <a:cs typeface="Aptos"/>
              </a:rPr>
              <a:t>NP-zor problem ailesi</a:t>
            </a:r>
          </a:p>
        </p:txBody>
      </p:sp>
      <p:sp>
        <p:nvSpPr>
          <p:cNvPr id="20" name="page-2">
            <a:extLst xmlns:a="http://schemas.openxmlformats.org/drawingml/2006/main">
              <a:ext uri="{FF2B5EF4-FFF2-40B4-BE49-F238E27FC236}">
                <a16:creationId xmlns:a16="http://schemas.microsoft.com/office/drawing/2014/main" id="{069CA461-F102-4158-9F0E-488F527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2054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Çözüm-eyebrow">
            <a:extLst xmlns:a="http://schemas.openxmlformats.org/drawingml/2006/main">
              <a:ext uri="{FF2B5EF4-FFF2-40B4-BE49-F238E27FC236}">
                <a16:creationId xmlns:a16="http://schemas.microsoft.com/office/drawing/2014/main" id="{D8690B95-A03D-4F68-9180-533FBDE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ÇÖZÜM</a:t>
            </a:r>
          </a:p>
        </p:txBody>
      </p:sp>
      <p:sp>
        <p:nvSpPr>
          <p:cNvPr id="2" name="Çözüm-title">
            <a:extLst xmlns:a="http://schemas.openxmlformats.org/drawingml/2006/main">
              <a:ext uri="{FF2B5EF4-FFF2-40B4-BE49-F238E27FC236}">
                <a16:creationId xmlns:a16="http://schemas.microsoft.com/office/drawing/2014/main" id="{7423435B-CD72-45E2-B291-F26B01C5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Tek cümleden kanıtlı optimizasyon sonucuna.</a:t>
            </a:r>
          </a:p>
        </p:txBody>
      </p:sp>
      <p:sp>
        <p:nvSpPr>
          <p:cNvPr id="3" name="Çözüm-subtitle">
            <a:extLst xmlns:a="http://schemas.openxmlformats.org/drawingml/2006/main">
              <a:ext uri="{FF2B5EF4-FFF2-40B4-BE49-F238E27FC236}">
                <a16:creationId xmlns:a16="http://schemas.microsoft.com/office/drawing/2014/main" id="{F5BD28E4-D9A6-491A-94E3-ECBA7B2C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Kullanıcı teknik terim bilmeden başlar; sistem problemi yapılandırır, çözücüleri çalıştırır ve sonucu açıklanabilir hale getirir.</a:t>
            </a:r>
          </a:p>
        </p:txBody>
      </p:sp>
      <p:sp>
        <p:nvSpPr>
          <p:cNvPr id="4" name="flow-card-0">
            <a:extLst xmlns:a="http://schemas.openxmlformats.org/drawingml/2006/main">
              <a:ext uri="{FF2B5EF4-FFF2-40B4-BE49-F238E27FC236}">
                <a16:creationId xmlns:a16="http://schemas.microsoft.com/office/drawing/2014/main" id="{DBFB3DCB-7C8D-4C0D-93D9-D2ECB85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71750" cy="261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5" name="flow-no-bg-0">
            <a:extLst xmlns:a="http://schemas.openxmlformats.org/drawingml/2006/main">
              <a:ext uri="{FF2B5EF4-FFF2-40B4-BE49-F238E27FC236}">
                <a16:creationId xmlns:a16="http://schemas.microsoft.com/office/drawing/2014/main" id="{E9D0AAC1-4620-44B5-849C-33882344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DEB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6" name="flow-no-0">
            <a:extLst xmlns:a="http://schemas.openxmlformats.org/drawingml/2006/main">
              <a:ext uri="{FF2B5EF4-FFF2-40B4-BE49-F238E27FC236}">
                <a16:creationId xmlns:a16="http://schemas.microsoft.com/office/drawing/2014/main" id="{B071F808-D359-4DC3-8CD5-AFDE294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4E2287DA-CFF4-402D-9416-7C315498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Normal Türkçe</a:t>
            </a:r>
          </a:p>
        </p:txBody>
      </p:sp>
      <p:sp>
        <p:nvSpPr>
          <p:cNvPr id="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07CC017-A4A2-4AF3-9B8A-5532207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57D"/>
                </a:solidFill>
                <a:latin typeface="Aptos"/>
                <a:ea typeface="Aptos"/>
                <a:cs typeface="Aptos"/>
              </a:rPr>
              <a:t>“İstanbul, Ankara ve İzmir için en kısa turu bul.”</a:t>
            </a:r>
          </a:p>
        </p:txBody>
      </p:sp>
      <p:sp>
        <p:nvSpPr>
          <p:cNvPr id="9" name="flow-card-1">
            <a:extLst xmlns:a="http://schemas.openxmlformats.org/drawingml/2006/main">
              <a:ext uri="{FF2B5EF4-FFF2-40B4-BE49-F238E27FC236}">
                <a16:creationId xmlns:a16="http://schemas.microsoft.com/office/drawing/2014/main" id="{AFCF492C-374B-4100-82CA-4C0E1B12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571750" cy="261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0" name="flow-no-bg-1">
            <a:extLst xmlns:a="http://schemas.openxmlformats.org/drawingml/2006/main">
              <a:ext uri="{FF2B5EF4-FFF2-40B4-BE49-F238E27FC236}">
                <a16:creationId xmlns:a16="http://schemas.microsoft.com/office/drawing/2014/main" id="{2B61F98F-9BCB-4610-86A4-6AE870E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0985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11" name="flow-no-1">
            <a:extLst xmlns:a="http://schemas.openxmlformats.org/drawingml/2006/main">
              <a:ext uri="{FF2B5EF4-FFF2-40B4-BE49-F238E27FC236}">
                <a16:creationId xmlns:a16="http://schemas.microsoft.com/office/drawing/2014/main" id="{508129C2-7971-4532-9E29-793F2411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95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1A05CA2-5CB0-4A81-B9CA-3412FA9E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Problem modeli</a:t>
            </a:r>
          </a:p>
        </p:txBody>
      </p:sp>
      <p:sp>
        <p:nvSpPr>
          <p:cNvPr id="1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6A61218-B8CD-4E11-A017-211A626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147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57D"/>
                </a:solidFill>
                <a:latin typeface="Aptos"/>
                <a:ea typeface="Aptos"/>
                <a:cs typeface="Aptos"/>
              </a:rPr>
              <a:t>Şehirler, amaç ve kısıtlar çözülebilir veriye dönüşür.</a:t>
            </a:r>
          </a:p>
        </p:txBody>
      </p:sp>
      <p:sp>
        <p:nvSpPr>
          <p:cNvPr id="14" name="flow-card-2">
            <a:extLst xmlns:a="http://schemas.openxmlformats.org/drawingml/2006/main">
              <a:ext uri="{FF2B5EF4-FFF2-40B4-BE49-F238E27FC236}">
                <a16:creationId xmlns:a16="http://schemas.microsoft.com/office/drawing/2014/main" id="{6EFE713C-B353-4424-864D-20F41BE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571750" cy="261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5" name="flow-no-bg-2">
            <a:extLst xmlns:a="http://schemas.openxmlformats.org/drawingml/2006/main">
              <a:ext uri="{FF2B5EF4-FFF2-40B4-BE49-F238E27FC236}">
                <a16:creationId xmlns:a16="http://schemas.microsoft.com/office/drawing/2014/main" id="{2221598E-2EE6-4E50-A23E-AD9344EA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BFF"/>
          </a:solidFill>
          <a:ln xmlns:a="http://schemas.openxmlformats.org/drawingml/2006/main" w="9525">
            <a:solidFill>
              <a:srgbClr val="8C7BFF"/>
            </a:solidFill>
            <a:prstDash val="solid"/>
          </a:ln>
        </p:spPr>
      </p:sp>
      <p:sp>
        <p:nvSpPr>
          <p:cNvPr id="16" name="flow-no-2">
            <a:extLst xmlns:a="http://schemas.openxmlformats.org/drawingml/2006/main">
              <a:ext uri="{FF2B5EF4-FFF2-40B4-BE49-F238E27FC236}">
                <a16:creationId xmlns:a16="http://schemas.microsoft.com/office/drawing/2014/main" id="{0718F287-6F49-4CEE-A022-143190A7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A0EF188-54B5-4A04-83BE-83DDEB6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Hibrit motor</a:t>
            </a:r>
          </a:p>
        </p:txBody>
      </p:sp>
      <p:sp>
        <p:nvSpPr>
          <p:cNvPr id="1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5EF3F8C-EA28-4D72-B636-355CD64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57D"/>
                </a:solidFill>
                <a:latin typeface="Aptos"/>
                <a:ea typeface="Aptos"/>
                <a:cs typeface="Aptos"/>
              </a:rPr>
              <a:t>Kesin, klasik yaklaşık, kuantum model ve Q# birlikte çalışır.</a:t>
            </a:r>
          </a:p>
        </p:txBody>
      </p:sp>
      <p:sp>
        <p:nvSpPr>
          <p:cNvPr id="19" name="flow-card-3">
            <a:extLst xmlns:a="http://schemas.openxmlformats.org/drawingml/2006/main">
              <a:ext uri="{FF2B5EF4-FFF2-40B4-BE49-F238E27FC236}">
                <a16:creationId xmlns:a16="http://schemas.microsoft.com/office/drawing/2014/main" id="{D4F35E63-FBB5-4E18-965C-C3C077C1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81250"/>
            <a:ext cx="2571750" cy="261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20" name="flow-no-bg-3">
            <a:extLst xmlns:a="http://schemas.openxmlformats.org/drawingml/2006/main">
              <a:ext uri="{FF2B5EF4-FFF2-40B4-BE49-F238E27FC236}">
                <a16:creationId xmlns:a16="http://schemas.microsoft.com/office/drawing/2014/main" id="{6A3550AD-3109-4486-AE3A-A118E451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0985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21" name="flow-no-3">
            <a:extLst xmlns:a="http://schemas.openxmlformats.org/drawingml/2006/main">
              <a:ext uri="{FF2B5EF4-FFF2-40B4-BE49-F238E27FC236}">
                <a16:creationId xmlns:a16="http://schemas.microsoft.com/office/drawing/2014/main" id="{06D72BB7-740D-4D4F-B456-DACE4B4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95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419C0F1-61D2-4E79-96F9-7411BEA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Kanıtlı sonuç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61226671-6D94-4641-B071-DD4A1401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147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57D"/>
                </a:solidFill>
                <a:latin typeface="Aptos"/>
                <a:ea typeface="Aptos"/>
                <a:cs typeface="Aptos"/>
              </a:rPr>
              <a:t>Rota, kalite, süre ve kuantum seviyesi yan yana görünür.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28950" y="36909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B2C7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6909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B2C7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877300" y="36909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B2C7"/>
            </a:solidFill>
            <a:prstDash val="solid"/>
            <a:tailEnd type="arrow" w="sm" len="sm"/>
          </a:ln>
        </p:spPr>
      </p:cxnSp>
      <p:sp>
        <p:nvSpPr>
          <p:cNvPr id="27" name="flow-takeaway">
            <a:extLst xmlns:a="http://schemas.openxmlformats.org/drawingml/2006/main">
              <a:ext uri="{FF2B5EF4-FFF2-40B4-BE49-F238E27FC236}">
                <a16:creationId xmlns:a16="http://schemas.microsoft.com/office/drawing/2014/main" id="{4D6A3965-DEB2-4BAA-ACED-2703E7C8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Fark yaratan nokta: sadece rota üretmek değil, yöntemleri aynı koşulda karşılaştırmak.</a:t>
            </a:r>
          </a:p>
        </p:txBody>
      </p:sp>
      <p:sp>
        <p:nvSpPr>
          <p:cNvPr id="28" name="page-3">
            <a:extLst xmlns:a="http://schemas.openxmlformats.org/drawingml/2006/main">
              <a:ext uri="{FF2B5EF4-FFF2-40B4-BE49-F238E27FC236}">
                <a16:creationId xmlns:a16="http://schemas.microsoft.com/office/drawing/2014/main" id="{BBFE6958-6E4B-490F-BE09-E236D0B4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3481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nlı demo-eyebrow">
            <a:extLst xmlns:a="http://schemas.openxmlformats.org/drawingml/2006/main">
              <a:ext uri="{FF2B5EF4-FFF2-40B4-BE49-F238E27FC236}">
                <a16:creationId xmlns:a16="http://schemas.microsoft.com/office/drawing/2014/main" id="{03CA8BC9-D3CF-4B64-8616-E98863C5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CANLI DEMO</a:t>
            </a:r>
          </a:p>
        </p:txBody>
      </p:sp>
      <p:sp>
        <p:nvSpPr>
          <p:cNvPr id="2" name="Canlı demo-title">
            <a:extLst xmlns:a="http://schemas.openxmlformats.org/drawingml/2006/main">
              <a:ext uri="{FF2B5EF4-FFF2-40B4-BE49-F238E27FC236}">
                <a16:creationId xmlns:a16="http://schemas.microsoft.com/office/drawing/2014/main" id="{0EE3F7AB-1068-43D4-A3D7-F6D5A3C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Problemi yaz, sistem çözsün.</a:t>
            </a:r>
          </a:p>
        </p:txBody>
      </p:sp>
      <p:sp>
        <p:nvSpPr>
          <p:cNvPr id="3" name="demo-copy-card">
            <a:extLst xmlns:a="http://schemas.openxmlformats.org/drawingml/2006/main">
              <a:ext uri="{FF2B5EF4-FFF2-40B4-BE49-F238E27FC236}">
                <a16:creationId xmlns:a16="http://schemas.microsoft.com/office/drawing/2014/main" id="{D248853A-A86C-496E-8365-BCC7DB3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619500" cy="39814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4" name="demo-copy-kicker">
            <a:extLst xmlns:a="http://schemas.openxmlformats.org/drawingml/2006/main">
              <a:ext uri="{FF2B5EF4-FFF2-40B4-BE49-F238E27FC236}">
                <a16:creationId xmlns:a16="http://schemas.microsoft.com/office/drawing/2014/main" id="{C8D063AC-C1EF-43CE-9B97-A0C43785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BDEB"/>
                </a:solidFill>
                <a:latin typeface="Aptos"/>
                <a:ea typeface="Aptos"/>
                <a:cs typeface="Aptos"/>
              </a:rPr>
              <a:t>ÖRNEK KOMUT</a:t>
            </a:r>
          </a:p>
        </p:txBody>
      </p:sp>
      <p:sp>
        <p:nvSpPr>
          <p:cNvPr id="5" name="demo-copy">
            <a:extLst xmlns:a="http://schemas.openxmlformats.org/drawingml/2006/main">
              <a:ext uri="{FF2B5EF4-FFF2-40B4-BE49-F238E27FC236}">
                <a16:creationId xmlns:a16="http://schemas.microsoft.com/office/drawing/2014/main" id="{3EEAA840-7ED5-4BBC-BB4D-918A21B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009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“İstanbul’dan başlayıp Ankara, İzmir, Antalya ve Bursa’yı ziyaret eden en kısa turu bul. Klasik yöntemlerle kuantum yöntemini karşılaştır.”</a:t>
            </a:r>
          </a:p>
        </p:txBody>
      </p:sp>
      <p:sp>
        <p:nvSpPr>
          <p:cNvPr id="6" name="demo-three-steps">
            <a:extLst xmlns:a="http://schemas.openxmlformats.org/drawingml/2006/main">
              <a:ext uri="{FF2B5EF4-FFF2-40B4-BE49-F238E27FC236}">
                <a16:creationId xmlns:a16="http://schemas.microsoft.com/office/drawing/2014/main" id="{ACB90FA9-F6DF-4761-976A-B25E924A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CC8D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CC8DC"/>
                </a:solidFill>
                <a:latin typeface="Aptos"/>
                <a:ea typeface="Aptos"/>
                <a:cs typeface="Aptos"/>
              </a:rPr>
              <a:t>1  Cümleyi anlar</a:t>
            </a:r>
          </a:p>
          <a:p xmlns:a="http://schemas.openxmlformats.org/drawingml/2006/main">
            <a:pPr>
              <a:defRPr sz="1350">
                <a:solidFill>
                  <a:srgbClr val="BCC8D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CC8DC"/>
                </a:solidFill>
                <a:latin typeface="Aptos"/>
                <a:ea typeface="Aptos"/>
                <a:cs typeface="Aptos"/>
              </a:rPr>
              <a:t>2  Şehirleri çıkarır</a:t>
            </a:r>
          </a:p>
          <a:p xmlns:a="http://schemas.openxmlformats.org/drawingml/2006/main">
            <a:pPr>
              <a:defRPr sz="1350">
                <a:solidFill>
                  <a:srgbClr val="BCC8D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CC8DC"/>
                </a:solidFill>
                <a:latin typeface="Aptos"/>
                <a:ea typeface="Aptos"/>
                <a:cs typeface="Aptos"/>
              </a:rPr>
              <a:t>3  Dört yöntemi çalıştırır</a:t>
            </a:r>
          </a:p>
        </p:txBody>
      </p:sp>
      <p:sp>
        <p:nvSpPr>
          <p:cNvPr id="7" name="demo-image-frame">
            <a:extLst xmlns:a="http://schemas.openxmlformats.org/drawingml/2006/main">
              <a:ext uri="{FF2B5EF4-FFF2-40B4-BE49-F238E27FC236}">
                <a16:creationId xmlns:a16="http://schemas.microsoft.com/office/drawing/2014/main" id="{8C8AA2D5-98B0-4195-A5E4-2561A0D2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6858000" cy="4429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9aa71f86c4809"/>
          <a:stretch xmlns:a="http://schemas.openxmlformats.org/drawingml/2006/main"/>
        </p:blipFill>
        <p:spPr>
          <a:xfrm xmlns:a="http://schemas.openxmlformats.org/drawingml/2006/main">
            <a:off x="4781550" y="1980009"/>
            <a:ext cx="6591300" cy="3707606"/>
          </a:xfrm>
          <a:prstGeom xmlns:a="http://schemas.openxmlformats.org/drawingml/2006/main" prst="roundRect">
            <a:avLst>
              <a:gd name="adj" fmla="val 2746"/>
            </a:avLst>
          </a:prstGeom>
        </p:spPr>
      </p:pic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DB82DD26-C45B-44D0-8D05-E1633A16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7909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q-eyebrow">
            <a:extLst xmlns:a="http://schemas.openxmlformats.org/drawingml/2006/main">
              <a:ext uri="{FF2B5EF4-FFF2-40B4-BE49-F238E27FC236}">
                <a16:creationId xmlns:a16="http://schemas.microsoft.com/office/drawing/2014/main" id="{02BE45D9-64C8-42B6-8C38-9090651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BDEB"/>
                </a:solidFill>
                <a:latin typeface="Aptos"/>
                <a:ea typeface="Aptos"/>
                <a:cs typeface="Aptos"/>
              </a:rPr>
              <a:t>KUANTUM BU PROJENİN NERESİNDE?</a:t>
            </a:r>
          </a:p>
        </p:txBody>
      </p:sp>
      <p:sp>
        <p:nvSpPr>
          <p:cNvPr id="2" name="q-title">
            <a:extLst xmlns:a="http://schemas.openxmlformats.org/drawingml/2006/main">
              <a:ext uri="{FF2B5EF4-FFF2-40B4-BE49-F238E27FC236}">
                <a16:creationId xmlns:a16="http://schemas.microsoft.com/office/drawing/2014/main" id="{E1567F21-6FC6-4665-BB4E-344CE31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73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Rotalar olasılıklara dönüşür; iyi rotaların ölçülme şansı yükseltilir.</a:t>
            </a:r>
          </a:p>
        </p:txBody>
      </p:sp>
      <p:sp>
        <p:nvSpPr>
          <p:cNvPr id="3" name="q-card-0">
            <a:extLst xmlns:a="http://schemas.openxmlformats.org/drawingml/2006/main">
              <a:ext uri="{FF2B5EF4-FFF2-40B4-BE49-F238E27FC236}">
                <a16:creationId xmlns:a16="http://schemas.microsoft.com/office/drawing/2014/main" id="{F13F44D7-A544-4A22-856A-1BF54C47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590800" cy="2724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4" name="gate-bg-0">
            <a:extLst xmlns:a="http://schemas.openxmlformats.org/drawingml/2006/main">
              <a:ext uri="{FF2B5EF4-FFF2-40B4-BE49-F238E27FC236}">
                <a16:creationId xmlns:a16="http://schemas.microsoft.com/office/drawing/2014/main" id="{BE54E1EF-BE22-4249-A792-C01FC3E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BDEB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5" name="gate-0">
            <a:extLst xmlns:a="http://schemas.openxmlformats.org/drawingml/2006/main">
              <a:ext uri="{FF2B5EF4-FFF2-40B4-BE49-F238E27FC236}">
                <a16:creationId xmlns:a16="http://schemas.microsoft.com/office/drawing/2014/main" id="{E868D18D-FC78-49B1-B47E-6612A7D0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49DFE955-2E93-454F-BBA2-7B77FCD5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Süperpozisyon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A9C27BE0-93AD-4C8B-A65A-41882E17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C0D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EC0D8"/>
                </a:solidFill>
                <a:latin typeface="Aptos"/>
                <a:ea typeface="Aptos"/>
                <a:cs typeface="Aptos"/>
              </a:rPr>
              <a:t>Rota durumlarını eşit başlangıç olasılığıyla hazırla.</a:t>
            </a:r>
          </a:p>
        </p:txBody>
      </p:sp>
      <p:sp>
        <p:nvSpPr>
          <p:cNvPr id="8" name="q-card-1">
            <a:extLst xmlns:a="http://schemas.openxmlformats.org/drawingml/2006/main">
              <a:ext uri="{FF2B5EF4-FFF2-40B4-BE49-F238E27FC236}">
                <a16:creationId xmlns:a16="http://schemas.microsoft.com/office/drawing/2014/main" id="{8DF5AE53-70B5-4D72-B572-62FA09B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590800" cy="2724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9" name="gate-bg-1">
            <a:extLst xmlns:a="http://schemas.openxmlformats.org/drawingml/2006/main">
              <a:ext uri="{FF2B5EF4-FFF2-40B4-BE49-F238E27FC236}">
                <a16:creationId xmlns:a16="http://schemas.microsoft.com/office/drawing/2014/main" id="{84F8231D-B9B1-46E1-8CC1-8286696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10" name="gate-1">
            <a:extLst xmlns:a="http://schemas.openxmlformats.org/drawingml/2006/main">
              <a:ext uri="{FF2B5EF4-FFF2-40B4-BE49-F238E27FC236}">
                <a16:creationId xmlns:a16="http://schemas.microsoft.com/office/drawing/2014/main" id="{6F8D8587-8FA4-4223-AA44-6CB995F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P(γ)</a:t>
            </a:r>
          </a:p>
        </p:txBody>
      </p:sp>
      <p:sp>
        <p:nvSpPr>
          <p:cNvPr id="11" name="q-title-1">
            <a:extLst xmlns:a="http://schemas.openxmlformats.org/drawingml/2006/main">
              <a:ext uri="{FF2B5EF4-FFF2-40B4-BE49-F238E27FC236}">
                <a16:creationId xmlns:a16="http://schemas.microsoft.com/office/drawing/2014/main" id="{741B9D19-583B-4AF0-8022-E952195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766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Faz / maliyet</a:t>
            </a:r>
          </a:p>
        </p:txBody>
      </p:sp>
      <p:sp>
        <p:nvSpPr>
          <p:cNvPr id="12" name="q-body-1">
            <a:extLst xmlns:a="http://schemas.openxmlformats.org/drawingml/2006/main">
              <a:ext uri="{FF2B5EF4-FFF2-40B4-BE49-F238E27FC236}">
                <a16:creationId xmlns:a16="http://schemas.microsoft.com/office/drawing/2014/main" id="{DB73014F-33F3-422B-B31A-B8FBBEB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814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C0D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EC0D8"/>
                </a:solidFill>
                <a:latin typeface="Aptos"/>
                <a:ea typeface="Aptos"/>
                <a:cs typeface="Aptos"/>
              </a:rPr>
              <a:t>Kısa ve uzun rotalara maliyetlerine göre farklı faz ver.</a:t>
            </a:r>
          </a:p>
        </p:txBody>
      </p:sp>
      <p:sp>
        <p:nvSpPr>
          <p:cNvPr id="13" name="q-card-2">
            <a:extLst xmlns:a="http://schemas.openxmlformats.org/drawingml/2006/main">
              <a:ext uri="{FF2B5EF4-FFF2-40B4-BE49-F238E27FC236}">
                <a16:creationId xmlns:a16="http://schemas.microsoft.com/office/drawing/2014/main" id="{C762F4BF-832E-46F3-BAA9-19DFE12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590800" cy="2724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4" name="gate-bg-2">
            <a:extLst xmlns:a="http://schemas.openxmlformats.org/drawingml/2006/main">
              <a:ext uri="{FF2B5EF4-FFF2-40B4-BE49-F238E27FC236}">
                <a16:creationId xmlns:a16="http://schemas.microsoft.com/office/drawing/2014/main" id="{1809B113-4281-4B79-9C30-BB9E7E0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15" name="gate-2">
            <a:extLst xmlns:a="http://schemas.openxmlformats.org/drawingml/2006/main">
              <a:ext uri="{FF2B5EF4-FFF2-40B4-BE49-F238E27FC236}">
                <a16:creationId xmlns:a16="http://schemas.microsoft.com/office/drawing/2014/main" id="{39EE4CEB-EC78-4C33-BA58-2DF7360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622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M(β)</a:t>
            </a:r>
          </a:p>
        </p:txBody>
      </p:sp>
      <p:sp>
        <p:nvSpPr>
          <p:cNvPr id="16" name="q-title-2">
            <a:extLst xmlns:a="http://schemas.openxmlformats.org/drawingml/2006/main">
              <a:ext uri="{FF2B5EF4-FFF2-40B4-BE49-F238E27FC236}">
                <a16:creationId xmlns:a16="http://schemas.microsoft.com/office/drawing/2014/main" id="{BD0E3AEE-47E5-424D-9E75-BCEBEFDC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Karıştırıcı</a:t>
            </a:r>
          </a:p>
        </p:txBody>
      </p:sp>
      <p:sp>
        <p:nvSpPr>
          <p:cNvPr id="17" name="q-body-2">
            <a:extLst xmlns:a="http://schemas.openxmlformats.org/drawingml/2006/main">
              <a:ext uri="{FF2B5EF4-FFF2-40B4-BE49-F238E27FC236}">
                <a16:creationId xmlns:a16="http://schemas.microsoft.com/office/drawing/2014/main" id="{68252371-C0F5-4662-AAA9-3DEB260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C0D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EC0D8"/>
                </a:solidFill>
                <a:latin typeface="Aptos"/>
                <a:ea typeface="Aptos"/>
                <a:cs typeface="Aptos"/>
              </a:rPr>
              <a:t>Olasılık genliklerini yeniden dağıt; iyi adayları güçlendirmeyi hedefle.</a:t>
            </a:r>
          </a:p>
        </p:txBody>
      </p:sp>
      <p:sp>
        <p:nvSpPr>
          <p:cNvPr id="18" name="q-card-3">
            <a:extLst xmlns:a="http://schemas.openxmlformats.org/drawingml/2006/main">
              <a:ext uri="{FF2B5EF4-FFF2-40B4-BE49-F238E27FC236}">
                <a16:creationId xmlns:a16="http://schemas.microsoft.com/office/drawing/2014/main" id="{100D4BEB-C169-40B1-81AB-D0A4A30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2590800" cy="2724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gate-bg-3">
            <a:extLst xmlns:a="http://schemas.openxmlformats.org/drawingml/2006/main">
              <a:ext uri="{FF2B5EF4-FFF2-40B4-BE49-F238E27FC236}">
                <a16:creationId xmlns:a16="http://schemas.microsoft.com/office/drawing/2014/main" id="{E60E6978-A5E4-4553-AC5F-C9A7D9B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20" name="gate-3">
            <a:extLst xmlns:a="http://schemas.openxmlformats.org/drawingml/2006/main">
              <a:ext uri="{FF2B5EF4-FFF2-40B4-BE49-F238E27FC236}">
                <a16:creationId xmlns:a16="http://schemas.microsoft.com/office/drawing/2014/main" id="{D685CE62-005B-4E76-BC02-C7C79CD1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622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1" name="q-title-3">
            <a:extLst xmlns:a="http://schemas.openxmlformats.org/drawingml/2006/main">
              <a:ext uri="{FF2B5EF4-FFF2-40B4-BE49-F238E27FC236}">
                <a16:creationId xmlns:a16="http://schemas.microsoft.com/office/drawing/2014/main" id="{ADD6F109-0063-4D01-8111-F022C93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Ölçüm</a:t>
            </a:r>
          </a:p>
        </p:txBody>
      </p:sp>
      <p:sp>
        <p:nvSpPr>
          <p:cNvPr id="22" name="q-body-3">
            <a:extLst xmlns:a="http://schemas.openxmlformats.org/drawingml/2006/main">
              <a:ext uri="{FF2B5EF4-FFF2-40B4-BE49-F238E27FC236}">
                <a16:creationId xmlns:a16="http://schemas.microsoft.com/office/drawing/2014/main" id="{5196C7A4-D3CD-4E3E-A5C8-7862D52A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C0D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EC0D8"/>
                </a:solidFill>
                <a:latin typeface="Aptos"/>
                <a:ea typeface="Aptos"/>
                <a:cs typeface="Aptos"/>
              </a:rPr>
              <a:t>Devreyi tekrar ölç; sık çıkan iyi rotaları klasik motorla doğrula.</a:t>
            </a:r>
          </a:p>
        </p:txBody>
      </p:sp>
      <p:cxnSp>
        <p:nvCxnSpPr>
          <p:cNvPr id="5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3743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DEB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57900" y="3743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DEB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972550" y="3743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DEB"/>
            </a:solidFill>
            <a:prstDash val="solid"/>
            <a:tailEnd type="arrow" w="sm" len="sm"/>
          </a:ln>
        </p:spPr>
      </p:cxnSp>
      <p:sp>
        <p:nvSpPr>
          <p:cNvPr id="26" name="q-truth">
            <a:extLst xmlns:a="http://schemas.openxmlformats.org/drawingml/2006/main">
              <a:ext uri="{FF2B5EF4-FFF2-40B4-BE49-F238E27FC236}">
                <a16:creationId xmlns:a16="http://schemas.microsoft.com/office/drawing/2014/main" id="{0FE633F5-0494-4538-8357-FC7A46E7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19750"/>
            <a:ext cx="922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BDEB"/>
                </a:solidFill>
                <a:latin typeface="Aptos"/>
                <a:ea typeface="Aptos"/>
                <a:cs typeface="Aptos"/>
              </a:rPr>
              <a:t>Dürüst iddia: Kuantum devresi çalışıyor; otomatik hız avantajı iddia edilmiyor — deney ölçüyor.</a:t>
            </a:r>
          </a:p>
        </p:txBody>
      </p:sp>
      <p:sp>
        <p:nvSpPr>
          <p:cNvPr id="27" name="page-5">
            <a:extLst xmlns:a="http://schemas.openxmlformats.org/drawingml/2006/main">
              <a:ext uri="{FF2B5EF4-FFF2-40B4-BE49-F238E27FC236}">
                <a16:creationId xmlns:a16="http://schemas.microsoft.com/office/drawing/2014/main" id="{96E013C1-8E37-4515-A644-A73FC7C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3017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anıt-eyebrow">
            <a:extLst xmlns:a="http://schemas.openxmlformats.org/drawingml/2006/main">
              <a:ext uri="{FF2B5EF4-FFF2-40B4-BE49-F238E27FC236}">
                <a16:creationId xmlns:a16="http://schemas.microsoft.com/office/drawing/2014/main" id="{AE4232C8-03EB-4111-922C-C7F89B0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KANIT</a:t>
            </a:r>
          </a:p>
        </p:txBody>
      </p:sp>
      <p:sp>
        <p:nvSpPr>
          <p:cNvPr id="2" name="Kanıt-title">
            <a:extLst xmlns:a="http://schemas.openxmlformats.org/drawingml/2006/main">
              <a:ext uri="{FF2B5EF4-FFF2-40B4-BE49-F238E27FC236}">
                <a16:creationId xmlns:a16="http://schemas.microsoft.com/office/drawing/2014/main" id="{3F04E567-1423-404E-A8E9-9AD2FA0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‘Kuantumlu’ olduğunu üç seviyede görünür kılıyoruz.</a:t>
            </a:r>
          </a:p>
        </p:txBody>
      </p:sp>
      <p:sp>
        <p:nvSpPr>
          <p:cNvPr id="3" name="Kanıt-subtitle">
            <a:extLst xmlns:a="http://schemas.openxmlformats.org/drawingml/2006/main">
              <a:ext uri="{FF2B5EF4-FFF2-40B4-BE49-F238E27FC236}">
                <a16:creationId xmlns:a16="http://schemas.microsoft.com/office/drawing/2014/main" id="{BB8F2B60-98BB-460B-8E6B-8107287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Ekran, hangi seviyenin gerçekten çalıştığını sonuçla birlikte işaretler.</a:t>
            </a:r>
          </a:p>
        </p:txBody>
      </p:sp>
      <p:sp>
        <p:nvSpPr>
          <p:cNvPr id="4" name="level-0">
            <a:extLst xmlns:a="http://schemas.openxmlformats.org/drawingml/2006/main">
              <a:ext uri="{FF2B5EF4-FFF2-40B4-BE49-F238E27FC236}">
                <a16:creationId xmlns:a16="http://schemas.microsoft.com/office/drawing/2014/main" id="{F901E0A2-8FF6-48E0-845D-B3224A22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000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5" name="level-n-bg-0">
            <a:extLst xmlns:a="http://schemas.openxmlformats.org/drawingml/2006/main">
              <a:ext uri="{FF2B5EF4-FFF2-40B4-BE49-F238E27FC236}">
                <a16:creationId xmlns:a16="http://schemas.microsoft.com/office/drawing/2014/main" id="{941FB059-44A9-480E-B56C-7C2C124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DEB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6" name="level-n-0">
            <a:extLst xmlns:a="http://schemas.openxmlformats.org/drawingml/2006/main">
              <a:ext uri="{FF2B5EF4-FFF2-40B4-BE49-F238E27FC236}">
                <a16:creationId xmlns:a16="http://schemas.microsoft.com/office/drawing/2014/main" id="{E3237137-5184-463B-A590-4FBC3639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level-title-0">
            <a:extLst xmlns:a="http://schemas.openxmlformats.org/drawingml/2006/main">
              <a:ext uri="{FF2B5EF4-FFF2-40B4-BE49-F238E27FC236}">
                <a16:creationId xmlns:a16="http://schemas.microsoft.com/office/drawing/2014/main" id="{6BA3DC3F-97EE-47BC-806B-2578B1C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52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Kuantum modeli</a:t>
            </a:r>
          </a:p>
        </p:txBody>
      </p:sp>
      <p:sp>
        <p:nvSpPr>
          <p:cNvPr id="8" name="level-body-0">
            <a:extLst xmlns:a="http://schemas.openxmlformats.org/drawingml/2006/main">
              <a:ext uri="{FF2B5EF4-FFF2-40B4-BE49-F238E27FC236}">
                <a16:creationId xmlns:a16="http://schemas.microsoft.com/office/drawing/2014/main" id="{CA5409F1-6FF4-4008-AC3D-B5F7E1C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9657D"/>
                </a:solidFill>
                <a:latin typeface="Aptos"/>
                <a:ea typeface="Aptos"/>
                <a:cs typeface="Aptos"/>
              </a:rPr>
              <a:t>Statevector / olasılık simülasyonu</a:t>
            </a:r>
          </a:p>
        </p:txBody>
      </p:sp>
      <p:sp>
        <p:nvSpPr>
          <p:cNvPr id="9" name="level-1">
            <a:extLst xmlns:a="http://schemas.openxmlformats.org/drawingml/2006/main">
              <a:ext uri="{FF2B5EF4-FFF2-40B4-BE49-F238E27FC236}">
                <a16:creationId xmlns:a16="http://schemas.microsoft.com/office/drawing/2014/main" id="{2B3FEB63-71E3-4137-AC2C-A5A5C1A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000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10" name="level-n-bg-1">
            <a:extLst xmlns:a="http://schemas.openxmlformats.org/drawingml/2006/main">
              <a:ext uri="{FF2B5EF4-FFF2-40B4-BE49-F238E27FC236}">
                <a16:creationId xmlns:a16="http://schemas.microsoft.com/office/drawing/2014/main" id="{B8733B12-F461-4974-95EE-A5F0777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11" name="level-n-1">
            <a:extLst xmlns:a="http://schemas.openxmlformats.org/drawingml/2006/main">
              <a:ext uri="{FF2B5EF4-FFF2-40B4-BE49-F238E27FC236}">
                <a16:creationId xmlns:a16="http://schemas.microsoft.com/office/drawing/2014/main" id="{81E763D2-247C-4A76-B6BC-9481724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level-title-1">
            <a:extLst xmlns:a="http://schemas.openxmlformats.org/drawingml/2006/main">
              <a:ext uri="{FF2B5EF4-FFF2-40B4-BE49-F238E27FC236}">
                <a16:creationId xmlns:a16="http://schemas.microsoft.com/office/drawing/2014/main" id="{BF204232-890A-40FC-A3CD-5947BFF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575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Microsoft Q# devresi</a:t>
            </a:r>
          </a:p>
        </p:txBody>
      </p:sp>
      <p:sp>
        <p:nvSpPr>
          <p:cNvPr id="13" name="level-body-1">
            <a:extLst xmlns:a="http://schemas.openxmlformats.org/drawingml/2006/main">
              <a:ext uri="{FF2B5EF4-FFF2-40B4-BE49-F238E27FC236}">
                <a16:creationId xmlns:a16="http://schemas.microsoft.com/office/drawing/2014/main" id="{CBB1A2ED-653F-49C4-BD6C-68750AD8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81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9657D"/>
                </a:solidFill>
                <a:latin typeface="Aptos"/>
                <a:ea typeface="Aptos"/>
                <a:cs typeface="Aptos"/>
              </a:rPr>
              <a:t>Kuantum kapıları + ölçüm + devre kimliği</a:t>
            </a:r>
          </a:p>
        </p:txBody>
      </p:sp>
      <p:sp>
        <p:nvSpPr>
          <p:cNvPr id="14" name="level-2">
            <a:extLst xmlns:a="http://schemas.openxmlformats.org/drawingml/2006/main">
              <a:ext uri="{FF2B5EF4-FFF2-40B4-BE49-F238E27FC236}">
                <a16:creationId xmlns:a16="http://schemas.microsoft.com/office/drawing/2014/main" id="{1FDA0A92-3E7A-41A6-8EE8-D67898B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00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15" name="level-n-bg-2">
            <a:extLst xmlns:a="http://schemas.openxmlformats.org/drawingml/2006/main">
              <a:ext uri="{FF2B5EF4-FFF2-40B4-BE49-F238E27FC236}">
                <a16:creationId xmlns:a16="http://schemas.microsoft.com/office/drawing/2014/main" id="{DD48AA5C-E501-4996-A8BB-33B6467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16" name="level-n-2">
            <a:extLst xmlns:a="http://schemas.openxmlformats.org/drawingml/2006/main">
              <a:ext uri="{FF2B5EF4-FFF2-40B4-BE49-F238E27FC236}">
                <a16:creationId xmlns:a16="http://schemas.microsoft.com/office/drawing/2014/main" id="{51623453-88AB-4AF6-BE92-381240F2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level-title-2">
            <a:extLst xmlns:a="http://schemas.openxmlformats.org/drawingml/2006/main">
              <a:ext uri="{FF2B5EF4-FFF2-40B4-BE49-F238E27FC236}">
                <a16:creationId xmlns:a16="http://schemas.microsoft.com/office/drawing/2014/main" id="{932BFAE8-B453-4E5B-AB19-4717BE1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624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Azure Quantum</a:t>
            </a:r>
          </a:p>
        </p:txBody>
      </p:sp>
      <p:sp>
        <p:nvSpPr>
          <p:cNvPr id="18" name="level-body-2">
            <a:extLst xmlns:a="http://schemas.openxmlformats.org/drawingml/2006/main">
              <a:ext uri="{FF2B5EF4-FFF2-40B4-BE49-F238E27FC236}">
                <a16:creationId xmlns:a16="http://schemas.microsoft.com/office/drawing/2014/main" id="{3A982084-3836-4157-B8EB-63F56ABC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863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9657D"/>
                </a:solidFill>
                <a:latin typeface="Aptos"/>
                <a:ea typeface="Aptos"/>
                <a:cs typeface="Aptos"/>
              </a:rPr>
              <a:t>Bulut hedefi + iş numarası + sağlayıcı</a:t>
            </a:r>
          </a:p>
        </p:txBody>
      </p:sp>
      <p:sp>
        <p:nvSpPr>
          <p:cNvPr id="19" name="proof-shot-frame">
            <a:extLst xmlns:a="http://schemas.openxmlformats.org/drawingml/2006/main">
              <a:ext uri="{FF2B5EF4-FFF2-40B4-BE49-F238E27FC236}">
                <a16:creationId xmlns:a16="http://schemas.microsoft.com/office/drawing/2014/main" id="{C835FEAB-DCDF-476C-8091-D099740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64579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152d7096a4184"/>
          <a:stretch xmlns:a="http://schemas.openxmlformats.org/drawingml/2006/main"/>
        </p:blipFill>
        <p:spPr>
          <a:xfrm xmlns:a="http://schemas.openxmlformats.org/drawingml/2006/main">
            <a:off x="5181600" y="2259211"/>
            <a:ext cx="6191250" cy="3482578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21" name="page-6">
            <a:extLst xmlns:a="http://schemas.openxmlformats.org/drawingml/2006/main">
              <a:ext uri="{FF2B5EF4-FFF2-40B4-BE49-F238E27FC236}">
                <a16:creationId xmlns:a16="http://schemas.microsoft.com/office/drawing/2014/main" id="{A2147B48-F2A1-4D42-B920-3D87E72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2376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211A8BD-59EA-40AA-BA96-043D6CF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04D509-E2C6-4E0D-B587-71E40909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Aynı problem, dört farklı çözüm bakışı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F453C4D9-0A43-4B27-A371-466BF917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3AED155-32D8-4463-BA2E-ED39F063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Klasik hızlı yöntem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Simulated annealing ile büyük arama alanında hızlı yaklaşık rota arar.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D3436A41-A45D-4AAB-A114-2CE0822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4CFBBE7-F51E-4B36-A08A-01AD6BD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Kesin kontrol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Küçük örneklerde tüm seçenekleri dener; kalite referansını verir.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5C3E1FC-1FA0-483C-A471-FB52B79C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B3B2587D-F0DE-4C8E-8357-7012AAB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Microsoft Q# devresi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Kapıları ölçer; yerel simülatör veya bağlı Azure Quantum hedefini kullanır.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08D4E4DD-389E-4ACB-8CA9-482674F3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E3EA673-B68E-4212-84D6-59856633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Kuantum modeli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Uygun rota uzayında QAOA-benzeri faz ve karıştırıcı simülasyonu çalıştırır.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D12C5EC-DAEB-4D6E-995D-C6F48939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Adil kıyaslama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Her motor aynı şehirleri, aynı hedefi ve aynı ölçüm tablosunu kullanır.</a:t>
            </a:r>
          </a:p>
        </p:txBody>
      </p:sp>
      <p:sp>
        <p:nvSpPr>
          <p:cNvPr id="12" name="engine-accent-0">
            <a:extLst xmlns:a="http://schemas.openxmlformats.org/drawingml/2006/main">
              <a:ext uri="{FF2B5EF4-FFF2-40B4-BE49-F238E27FC236}">
                <a16:creationId xmlns:a16="http://schemas.microsoft.com/office/drawing/2014/main" id="{647D2FA9-2ADB-48FC-A86A-D030664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9" y="254127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</p:sp>
      <p:sp>
        <p:nvSpPr>
          <p:cNvPr id="13" name="engine-accent-1">
            <a:extLst xmlns:a="http://schemas.openxmlformats.org/drawingml/2006/main">
              <a:ext uri="{FF2B5EF4-FFF2-40B4-BE49-F238E27FC236}">
                <a16:creationId xmlns:a16="http://schemas.microsoft.com/office/drawing/2014/main" id="{D9C18BE5-6E83-4267-B887-991BD5C9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227" y="254127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engine-accent-2">
            <a:extLst xmlns:a="http://schemas.openxmlformats.org/drawingml/2006/main">
              <a:ext uri="{FF2B5EF4-FFF2-40B4-BE49-F238E27FC236}">
                <a16:creationId xmlns:a16="http://schemas.microsoft.com/office/drawing/2014/main" id="{1BE1F0C7-35CB-4BEC-B577-C16441E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9" y="454152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DEB"/>
          </a:solidFill>
          <a:ln xmlns:a="http://schemas.openxmlformats.org/drawingml/2006/main" w="9525">
            <a:solidFill>
              <a:srgbClr val="16BDEB"/>
            </a:solidFill>
            <a:prstDash val="solid"/>
          </a:ln>
        </p:spPr>
      </p:sp>
      <p:sp>
        <p:nvSpPr>
          <p:cNvPr id="15" name="engine-accent-3">
            <a:extLst xmlns:a="http://schemas.openxmlformats.org/drawingml/2006/main">
              <a:ext uri="{FF2B5EF4-FFF2-40B4-BE49-F238E27FC236}">
                <a16:creationId xmlns:a16="http://schemas.microsoft.com/office/drawing/2014/main" id="{0E6A9B24-40F4-44C0-BC13-17DC7F53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227" y="454152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1750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ğer-eyebrow">
            <a:extLst xmlns:a="http://schemas.openxmlformats.org/drawingml/2006/main">
              <a:ext uri="{FF2B5EF4-FFF2-40B4-BE49-F238E27FC236}">
                <a16:creationId xmlns:a16="http://schemas.microsoft.com/office/drawing/2014/main" id="{ED900196-71D9-48EF-B621-0F9D3E0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DEĞER</a:t>
            </a:r>
          </a:p>
        </p:txBody>
      </p:sp>
      <p:sp>
        <p:nvSpPr>
          <p:cNvPr id="2" name="Değer-title">
            <a:extLst xmlns:a="http://schemas.openxmlformats.org/drawingml/2006/main">
              <a:ext uri="{FF2B5EF4-FFF2-40B4-BE49-F238E27FC236}">
                <a16:creationId xmlns:a16="http://schemas.microsoft.com/office/drawing/2014/main" id="{273622BD-9429-4CC1-A63F-0D7ED065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Bu proje neden sıradan bir rota sitesinden farklı?</a:t>
            </a:r>
          </a:p>
        </p:txBody>
      </p:sp>
      <p:sp>
        <p:nvSpPr>
          <p:cNvPr id="3" name="Değer-subtitle">
            <a:extLst xmlns:a="http://schemas.openxmlformats.org/drawingml/2006/main">
              <a:ext uri="{FF2B5EF4-FFF2-40B4-BE49-F238E27FC236}">
                <a16:creationId xmlns:a16="http://schemas.microsoft.com/office/drawing/2014/main" id="{8185B7A9-207D-4BDD-A206-B76502E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57D"/>
                </a:solidFill>
                <a:latin typeface="Aptos"/>
                <a:ea typeface="Aptos"/>
                <a:cs typeface="Aptos"/>
              </a:rPr>
              <a:t>Navigasyon hedef değil; kuantum optimizasyonunu anlaşılır, ölçülebilir ve tekrar çalıştırılabilir hale getirmek hedef.</a:t>
            </a:r>
          </a:p>
        </p:txBody>
      </p:sp>
      <p:sp>
        <p:nvSpPr>
          <p:cNvPr id="4" name="not-nav">
            <a:extLst xmlns:a="http://schemas.openxmlformats.org/drawingml/2006/main">
              <a:ext uri="{FF2B5EF4-FFF2-40B4-BE49-F238E27FC236}">
                <a16:creationId xmlns:a16="http://schemas.microsoft.com/office/drawing/2014/main" id="{4BA09300-BB9C-4C5A-8C43-07F78373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720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F7BCC3"/>
            </a:solidFill>
            <a:prstDash val="solid"/>
          </a:ln>
        </p:spPr>
      </p:sp>
      <p:sp>
        <p:nvSpPr>
          <p:cNvPr id="5" name="not-nav-kicker">
            <a:extLst xmlns:a="http://schemas.openxmlformats.org/drawingml/2006/main">
              <a:ext uri="{FF2B5EF4-FFF2-40B4-BE49-F238E27FC236}">
                <a16:creationId xmlns:a16="http://schemas.microsoft.com/office/drawing/2014/main" id="{E1B22E65-F96D-4973-9B91-AE1BF58E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5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5363"/>
                </a:solidFill>
                <a:latin typeface="Aptos"/>
                <a:ea typeface="Aptos"/>
                <a:cs typeface="Aptos"/>
              </a:rPr>
              <a:t>KLASİK ROTA SİTESİ</a:t>
            </a:r>
          </a:p>
        </p:txBody>
      </p:sp>
      <p:sp>
        <p:nvSpPr>
          <p:cNvPr id="6" name="not-nav-title">
            <a:extLst xmlns:a="http://schemas.openxmlformats.org/drawingml/2006/main">
              <a:ext uri="{FF2B5EF4-FFF2-40B4-BE49-F238E27FC236}">
                <a16:creationId xmlns:a16="http://schemas.microsoft.com/office/drawing/2014/main" id="{3360D8A3-B8F4-427F-B389-F11D8C1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“A’dan B’ye nasıl giderim?”</a:t>
            </a:r>
          </a:p>
        </p:txBody>
      </p:sp>
      <p:sp>
        <p:nvSpPr>
          <p:cNvPr id="7" name="not-nav-body">
            <a:extLst xmlns:a="http://schemas.openxmlformats.org/drawingml/2006/main">
              <a:ext uri="{FF2B5EF4-FFF2-40B4-BE49-F238E27FC236}">
                <a16:creationId xmlns:a16="http://schemas.microsoft.com/office/drawing/2014/main" id="{B272A2D7-55C2-44C3-ACEF-DD07E54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Trafik ve yol tarifi</a:t>
            </a:r>
          </a:p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Tek sonuç odaklı</a:t>
            </a:r>
          </a:p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Algoritma görünmez</a:t>
            </a:r>
          </a:p>
        </p:txBody>
      </p:sp>
      <p:sp>
        <p:nvSpPr>
          <p:cNvPr id="8" name="is-lab">
            <a:extLst xmlns:a="http://schemas.openxmlformats.org/drawingml/2006/main">
              <a:ext uri="{FF2B5EF4-FFF2-40B4-BE49-F238E27FC236}">
                <a16:creationId xmlns:a16="http://schemas.microsoft.com/office/drawing/2014/main" id="{68D45004-6760-4884-85D1-A41A07A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9525">
            <a:solidFill>
              <a:srgbClr val="BBB3FF"/>
            </a:solidFill>
            <a:prstDash val="solid"/>
          </a:ln>
        </p:spPr>
      </p:sp>
      <p:sp>
        <p:nvSpPr>
          <p:cNvPr id="9" name="is-lab-kicker">
            <a:extLst xmlns:a="http://schemas.openxmlformats.org/drawingml/2006/main">
              <a:ext uri="{FF2B5EF4-FFF2-40B4-BE49-F238E27FC236}">
                <a16:creationId xmlns:a16="http://schemas.microsoft.com/office/drawing/2014/main" id="{B27E6235-DDD4-4A1B-AE3A-BC54662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5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QUANTUM ROUTE LAB</a:t>
            </a:r>
          </a:p>
        </p:txBody>
      </p:sp>
      <p:sp>
        <p:nvSpPr>
          <p:cNvPr id="10" name="is-lab-title">
            <a:extLst xmlns:a="http://schemas.openxmlformats.org/drawingml/2006/main">
              <a:ext uri="{FF2B5EF4-FFF2-40B4-BE49-F238E27FC236}">
                <a16:creationId xmlns:a16="http://schemas.microsoft.com/office/drawing/2014/main" id="{C247200F-C9B0-47CF-81DF-6B09CD05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“Hangi yöntem neden daha iyi?”</a:t>
            </a:r>
          </a:p>
        </p:txBody>
      </p:sp>
      <p:sp>
        <p:nvSpPr>
          <p:cNvPr id="11" name="is-lab-body">
            <a:extLst xmlns:a="http://schemas.openxmlformats.org/drawingml/2006/main">
              <a:ext uri="{FF2B5EF4-FFF2-40B4-BE49-F238E27FC236}">
                <a16:creationId xmlns:a16="http://schemas.microsoft.com/office/drawing/2014/main" id="{58C7E0A3-5B6D-4005-B946-E4CA58D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Klasik × kuantum benchmark</a:t>
            </a:r>
          </a:p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Doğal dille problem girişi</a:t>
            </a:r>
          </a:p>
          <a:p xmlns:a="http://schemas.openxmlformats.org/drawingml/2006/main">
            <a:pPr>
              <a:defRPr sz="1500">
                <a:solidFill>
                  <a:srgbClr val="59657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9657D"/>
                </a:solidFill>
                <a:latin typeface="Aptos"/>
                <a:ea typeface="Aptos"/>
                <a:cs typeface="Aptos"/>
              </a:rPr>
              <a:t>• Devre, ölçüm ve Azure kanıtı</a:t>
            </a:r>
          </a:p>
        </p:txBody>
      </p:sp>
      <p:sp>
        <p:nvSpPr>
          <p:cNvPr id="12" name="users">
            <a:extLst xmlns:a="http://schemas.openxmlformats.org/drawingml/2006/main">
              <a:ext uri="{FF2B5EF4-FFF2-40B4-BE49-F238E27FC236}">
                <a16:creationId xmlns:a16="http://schemas.microsoft.com/office/drawing/2014/main" id="{E30F475C-425F-414A-A674-89EFD20E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Kullanıcılar: öğrenciler · geliştiriciler · Ar-Ge ekipleri · optimizasyon eğitmenleri</a:t>
            </a:r>
          </a:p>
        </p:txBody>
      </p:sp>
      <p:sp>
        <p:nvSpPr>
          <p:cNvPr id="13" name="page-8">
            <a:extLst xmlns:a="http://schemas.openxmlformats.org/drawingml/2006/main">
              <a:ext uri="{FF2B5EF4-FFF2-40B4-BE49-F238E27FC236}">
                <a16:creationId xmlns:a16="http://schemas.microsoft.com/office/drawing/2014/main" id="{03EDDE59-3A8C-4A5E-A6B7-94CDE5F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4260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125760C-6434-4C88-B4D1-1A634CB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3FFC5AF-0102-4824-B61F-051EB9AA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Doğal dil bugün; daha geniş NP-zor problem ailesi sırada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3373755"/>
            <a:ext cx="11430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3709362-D50E-45A6-8A75-1BC87B3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800512E-7A0D-4D88-AD57-F9194F1F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E33DD57-C6CF-48B7-8B6F-7765E24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B526BF8-EED7-43E0-BEB0-61362286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BUGÜN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B255793-79DD-43DC-BFD7-AE66B37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SONRAKİ SÜRÜM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6AE0224-F8F6-4B12-8CA7-D882144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ÜRÜNLEŞME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4E616F-494E-4538-9C3A-E7846A11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Max-Cut · Çanta · Çizelgeleme</a:t>
            </a:r>
          </a:p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Ortak QUBO katmanı ile yeni optimizasyon türleri eklenir.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7AA3228-6070-45AD-9A3A-274E9FC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Türkçe rota problemi</a:t>
            </a:r>
          </a:p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Cümleden şehirleri çıkarır; TSP karşılaştırmasını otomatik başlatır.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0ECC42F-B67D-4FC0-AA20-4FA2064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Gerçek kısıtlar + Azure hedefleri</a:t>
            </a:r>
          </a:p>
          <a:p xmlns:a="http://schemas.openxmlformats.org/drawingml/2006/main">
            <a:pPr algn="l">
              <a:defRPr sz="150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A1020"/>
                </a:solidFill>
                <a:latin typeface="Aptos"/>
                <a:ea typeface="Aptos"/>
                <a:cs typeface="Aptos"/>
              </a:rPr>
              <a:t>Maliyet, kapasite, zaman penceresi ve donanım benchmark’ı.</a:t>
            </a:r>
          </a:p>
        </p:txBody>
      </p:sp>
      <p:sp>
        <p:nvSpPr>
          <p:cNvPr id="13" name="tag-NL → problem modeli">
            <a:extLst xmlns:a="http://schemas.openxmlformats.org/drawingml/2006/main">
              <a:ext uri="{FF2B5EF4-FFF2-40B4-BE49-F238E27FC236}">
                <a16:creationId xmlns:a16="http://schemas.microsoft.com/office/drawing/2014/main" id="{E3CC518E-C77D-4A17-8FF6-7A941968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D"/>
          </a:solidFill>
          <a:ln xmlns:a="http://schemas.openxmlformats.org/drawingml/2006/main" w="9525">
            <a:solidFill>
              <a:srgbClr val="E8F8FD"/>
            </a:solidFill>
            <a:prstDash val="solid"/>
          </a:ln>
        </p:spPr>
      </p:sp>
      <p:sp>
        <p:nvSpPr>
          <p:cNvPr id="14" name="tag-text-NL → problem modeli">
            <a:extLst xmlns:a="http://schemas.openxmlformats.org/drawingml/2006/main">
              <a:ext uri="{FF2B5EF4-FFF2-40B4-BE49-F238E27FC236}">
                <a16:creationId xmlns:a16="http://schemas.microsoft.com/office/drawing/2014/main" id="{DB9C1533-1416-4F0C-93FF-6A29B076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E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E9E"/>
                </a:solidFill>
                <a:latin typeface="Aptos"/>
                <a:ea typeface="Aptos"/>
                <a:cs typeface="Aptos"/>
              </a:rPr>
              <a:t>NL → problem modeli</a:t>
            </a:r>
          </a:p>
        </p:txBody>
      </p:sp>
      <p:sp>
        <p:nvSpPr>
          <p:cNvPr id="15" name="tag-NP-zor problem galerisi">
            <a:extLst xmlns:a="http://schemas.openxmlformats.org/drawingml/2006/main">
              <a:ext uri="{FF2B5EF4-FFF2-40B4-BE49-F238E27FC236}">
                <a16:creationId xmlns:a16="http://schemas.microsoft.com/office/drawing/2014/main" id="{C02BB8EB-E2AB-4E39-81A3-0ADE936E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AFF"/>
          </a:solidFill>
          <a:ln xmlns:a="http://schemas.openxmlformats.org/drawingml/2006/main" w="9525">
            <a:solidFill>
              <a:srgbClr val="ECEAFF"/>
            </a:solidFill>
            <a:prstDash val="solid"/>
          </a:ln>
        </p:spPr>
      </p:sp>
      <p:sp>
        <p:nvSpPr>
          <p:cNvPr id="16" name="tag-text-NP-zor problem galerisi">
            <a:extLst xmlns:a="http://schemas.openxmlformats.org/drawingml/2006/main">
              <a:ext uri="{FF2B5EF4-FFF2-40B4-BE49-F238E27FC236}">
                <a16:creationId xmlns:a16="http://schemas.microsoft.com/office/drawing/2014/main" id="{BA065EAA-C847-4619-BCDE-460E3E62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764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58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58F6"/>
                </a:solidFill>
                <a:latin typeface="Aptos"/>
                <a:ea typeface="Aptos"/>
                <a:cs typeface="Aptos"/>
              </a:rPr>
              <a:t>NP-zor problem galerisi</a:t>
            </a:r>
          </a:p>
        </p:txBody>
      </p:sp>
    </p:spTree>
    <p:extLst>
      <p:ext uri="{BB962C8B-B14F-4D97-AF65-F5344CB8AC3E}">
        <p14:creationId xmlns:p14="http://schemas.microsoft.com/office/powerpoint/2010/main" val="1333224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8B0B490-B24D-4313-A901-AAFF2F1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BDEB"/>
                </a:solidFill>
                <a:latin typeface="Aptos"/>
                <a:ea typeface="Aptos"/>
                <a:cs typeface="Aptos"/>
              </a:rPr>
              <a:t>KAPANIŞ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74144B8-679D-421F-9BF5-B03B19FA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Kuantumu vaat olmaktan çıkarıp ölçülebilir bir deneye dönüştürüyoruz.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1F8E4A27-590F-4BE3-B136-B899045C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7C6D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B7C6DA"/>
                </a:solidFill>
                <a:latin typeface="Aptos"/>
                <a:ea typeface="Aptos"/>
                <a:cs typeface="Aptos"/>
              </a:rPr>
              <a:t>Doğal dil → hibrit çözüm → kuantum kanıtı → dürüst karşılaştırma</a:t>
            </a:r>
          </a:p>
        </p:txBody>
      </p:sp>
      <p:sp>
        <p:nvSpPr>
          <p:cNvPr id="4" name="github-box">
            <a:extLst xmlns:a="http://schemas.openxmlformats.org/drawingml/2006/main">
              <a:ext uri="{FF2B5EF4-FFF2-40B4-BE49-F238E27FC236}">
                <a16:creationId xmlns:a16="http://schemas.microsoft.com/office/drawing/2014/main" id="{70FED798-7FC2-4B20-83BB-2A8C9398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858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542"/>
          </a:solidFill>
          <a:ln xmlns:a="http://schemas.openxmlformats.org/drawingml/2006/main" w="9525">
            <a:solidFill>
              <a:srgbClr val="274566"/>
            </a:solidFill>
            <a:prstDash val="solid"/>
          </a:ln>
        </p:spPr>
      </p:sp>
      <p:sp>
        <p:nvSpPr>
          <p:cNvPr id="5" name="github-label">
            <a:extLst xmlns:a="http://schemas.openxmlformats.org/drawingml/2006/main">
              <a:ext uri="{FF2B5EF4-FFF2-40B4-BE49-F238E27FC236}">
                <a16:creationId xmlns:a16="http://schemas.microsoft.com/office/drawing/2014/main" id="{917444C3-9494-40A1-8634-19A7BFB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BDEB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6" name="github-url">
            <a:extLst xmlns:a="http://schemas.openxmlformats.org/drawingml/2006/main">
              <a:ext uri="{FF2B5EF4-FFF2-40B4-BE49-F238E27FC236}">
                <a16:creationId xmlns:a16="http://schemas.microsoft.com/office/drawing/2014/main" id="{79C9CC92-73D3-4DDF-86B3-24441C0B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github.com/fatmaturkmen244-spec/kuantum-hibrit-optimizasyon</a:t>
            </a:r>
          </a:p>
        </p:txBody>
      </p:sp>
      <p:sp>
        <p:nvSpPr>
          <p:cNvPr id="7" name="ask-box">
            <a:extLst xmlns:a="http://schemas.openxmlformats.org/drawingml/2006/main">
              <a:ext uri="{FF2B5EF4-FFF2-40B4-BE49-F238E27FC236}">
                <a16:creationId xmlns:a16="http://schemas.microsoft.com/office/drawing/2014/main" id="{F6C6D922-4A8E-4D03-B298-44DA499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57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658F6"/>
          </a:solidFill>
          <a:ln xmlns:a="http://schemas.openxmlformats.org/drawingml/2006/main" w="9525">
            <a:solidFill>
              <a:srgbClr val="6658F6"/>
            </a:solidFill>
            <a:prstDash val="solid"/>
          </a:ln>
        </p:spPr>
      </p:sp>
      <p:sp>
        <p:nvSpPr>
          <p:cNvPr id="8" name="ask">
            <a:extLst xmlns:a="http://schemas.openxmlformats.org/drawingml/2006/main">
              <a:ext uri="{FF2B5EF4-FFF2-40B4-BE49-F238E27FC236}">
                <a16:creationId xmlns:a16="http://schemas.microsoft.com/office/drawing/2014/main" id="{707D604A-1B05-4F4E-98A6-89FBB924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481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Canlı demoya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geçelim</a:t>
            </a:r>
          </a:p>
        </p:txBody>
      </p:sp>
      <p:sp>
        <p:nvSpPr>
          <p:cNvPr id="9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7D83101A-8FB8-4E77-A8B2-1EE12308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BDE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6BDEB"/>
                </a:solidFill>
                <a:latin typeface="Aptos"/>
                <a:ea typeface="Aptos"/>
                <a:cs typeface="Aptos"/>
              </a:rPr>
              <a:t>Soru: Kuantum hangi problemde gerçekten avantaj sağlayacak? Cevabı varsaymıyoruz — benchmark ediyoruz.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C642FA8A-BFD4-42DA-9FAC-8B9F598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B95A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8B95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1050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2026-08-28T21:59:49.5630000Z</dcterms:created>
  <dcterms:modified xsi:type="dcterms:W3CDTF">2026-08-28T21:59:49.5630000Z</dcterms:modified>
</coreProperties>
</file>